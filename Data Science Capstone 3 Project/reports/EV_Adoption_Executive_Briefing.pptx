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75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influence on adoption rate</c:v>
                </c:pt>
              </c:strCache>
            </c:strRef>
          </c:tx>
          <c:spPr>
            <a:solidFill>
              <a:srgbClr val="0A2540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Prior-year
adoption momentum</c:v>
                </c:pt>
                <c:pt idx="1">
                  <c:v>Median
income</c:v>
                </c:pt>
                <c:pt idx="2">
                  <c:v>Charging
infrastructure</c:v>
                </c:pt>
                <c:pt idx="3">
                  <c:v>Population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42</c:v>
                </c:pt>
                <c:pt idx="2">
                  <c:v>33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E6A-4595-ABFA-1CBC7C58C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0921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16A0301-1797-9C2C-F90A-75F42F40A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1920" y="1691640"/>
            <a:ext cx="12192000" cy="4876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28956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kern="0" spc="150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SPRINGBOARD DATA SCIENCE CAREER TRACK · CAPSTONE THREE · SAILEE GAWANDE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3937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Accelerating Electric Vehicle Adoption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48640" y="1596047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County-Level Framework for Targeted Infrastructure Investment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Briefing  |  Washington State Case Study, 2017–2025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Targeted Allocation of Public dollars for EV Infrastructure &amp; Policies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309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 is one of the largest sources of U.S. greenhouse gas emissions, and EV adoption is a key lever for reducing it.</a:t>
            </a:r>
            <a:endParaRPr lang="en-US" sz="1500" dirty="0"/>
          </a:p>
          <a:p>
            <a:pPr marL="0" indent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adoption is wildly uneven — even between counties in the same state — and infrastructure investment (charging stations, incentives) is expensive.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data-driven framework, investment risks flowing to regions where it won't move the needle.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269480" y="1783080"/>
            <a:ext cx="4389120" cy="2880360"/>
          </a:xfrm>
          <a:prstGeom prst="roundRect">
            <a:avLst>
              <a:gd name="adj" fmla="val 2540"/>
            </a:avLst>
          </a:prstGeom>
          <a:solidFill>
            <a:srgbClr val="F0F5F5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0" y="196596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~28%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498080" y="292608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2022 U.S. greenhouse gas emissions came from transportation (EPA — see Sources, slide 14)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0" y="3840480"/>
            <a:ext cx="39319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0" y="402336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builds a scalable, data-driven framework — using Washington State as a case study — to identify where EV infrastructure investment will have the greatest impact.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models, one goal: know where — and why — to invest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10128" cy="3703320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286000"/>
            <a:ext cx="731520" cy="73152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346" y="2381098"/>
            <a:ext cx="541325" cy="5413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3200400"/>
            <a:ext cx="2724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Unify the Data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41248" y="3703320"/>
            <a:ext cx="272491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Washington State sources — EV registrations, vehicle registrations, income, population, and charging stations — merged to the county-year level, 2017–2025.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5212080"/>
            <a:ext cx="2724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0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9060" y="3671316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845052" y="3643884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8204" y="3717036"/>
            <a:ext cx="201168" cy="20116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178808" y="1965960"/>
            <a:ext cx="3310128" cy="3703320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4471416" y="2286000"/>
            <a:ext cx="731520" cy="73152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6514" y="2381098"/>
            <a:ext cx="541325" cy="54132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471416" y="3200400"/>
            <a:ext cx="2724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Model the Drivers</a:t>
            </a:r>
            <a:endParaRPr lang="en-US" sz="1700" dirty="0"/>
          </a:p>
        </p:txBody>
      </p:sp>
      <p:sp>
        <p:nvSpPr>
          <p:cNvPr id="17" name="Text 11"/>
          <p:cNvSpPr/>
          <p:nvPr/>
        </p:nvSpPr>
        <p:spPr>
          <a:xfrm>
            <a:off x="4471416" y="3703320"/>
            <a:ext cx="272491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Ridge regression quantifies which factors — momentum, income, infrastructure — actually move county-level EV adoption, and by how much.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4471416" y="5212080"/>
            <a:ext cx="2724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05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9228" y="3671316"/>
            <a:ext cx="292608" cy="292608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7475220" y="3643884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8372" y="3717036"/>
            <a:ext cx="201168" cy="201168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808976" y="1965960"/>
            <a:ext cx="3310128" cy="3703320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5"/>
          <p:cNvSpPr/>
          <p:nvPr/>
        </p:nvSpPr>
        <p:spPr>
          <a:xfrm>
            <a:off x="8101584" y="2286000"/>
            <a:ext cx="731520" cy="73152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6682" y="2381098"/>
            <a:ext cx="541325" cy="541325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101584" y="3200400"/>
            <a:ext cx="2724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Segment the Counties</a:t>
            </a:r>
            <a:endParaRPr lang="en-US" sz="1700" dirty="0"/>
          </a:p>
        </p:txBody>
      </p:sp>
      <p:sp>
        <p:nvSpPr>
          <p:cNvPr id="26" name="Text 17"/>
          <p:cNvSpPr/>
          <p:nvPr/>
        </p:nvSpPr>
        <p:spPr>
          <a:xfrm>
            <a:off x="8101584" y="3703320"/>
            <a:ext cx="272491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 groups Washington's 39 counties into three adoption profiles, each facing a different constraint.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8101584" y="5212080"/>
            <a:ext cx="2724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1050" dirty="0"/>
          </a:p>
        </p:txBody>
      </p:sp>
      <p:sp>
        <p:nvSpPr>
          <p:cNvPr id="28" name="Text 19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state datasets, two modeling approaches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1751076"/>
            <a:ext cx="338328" cy="338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1737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Datasets Used (WA State, 2017–2025)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534924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 Population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EVs by county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Registrations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registered vehicles (denominator)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Income (OFM)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County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(OFM)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County population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Charging Stations (WSDOT)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charger locations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63640" y="1691640"/>
            <a:ext cx="457200" cy="45720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6" y="1751076"/>
            <a:ext cx="338328" cy="33832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858000" y="1737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Approach</a:t>
            </a:r>
            <a:endParaRPr lang="en-US" sz="14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194560"/>
          <a:ext cx="5349240" cy="9144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Inputs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County adoption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adoption, income, charging density, population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 Clustering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County segment (1 of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Income, charging density, population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Shape 6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7"/>
          <p:cNvSpPr/>
          <p:nvPr/>
        </p:nvSpPr>
        <p:spPr>
          <a:xfrm>
            <a:off x="777240" y="50292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STEPS</a:t>
            </a:r>
            <a:endParaRPr lang="en-US" sz="1050" dirty="0"/>
          </a:p>
        </p:txBody>
      </p:sp>
      <p:sp>
        <p:nvSpPr>
          <p:cNvPr id="14" name="Text 8"/>
          <p:cNvSpPr/>
          <p:nvPr/>
        </p:nvSpPr>
        <p:spPr>
          <a:xfrm>
            <a:off x="777240" y="53492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5 sources to county-year level (39 counties)  →  Engineer adoption-rate target &amp; prior-year lag  →  Transform skewed features (Yeo–Johnson) &amp; check multicollinearity  →  Time-aware train/test split (train 2017–2023, test 2024–2025) to prevent leakage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adoption gap between counties is widening, not narrowing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charts/eda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615" y="1856232"/>
            <a:ext cx="4087290" cy="30540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5020056"/>
            <a:ext cx="50200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counties by EV adoption rate, 2017–2025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291072" y="1691640"/>
            <a:ext cx="534924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/home/claude/charts/eda_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47" y="1856232"/>
            <a:ext cx="4087290" cy="3054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55664" y="5020056"/>
            <a:ext cx="50200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5 counties by EV adoption rate, 2017–2025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counties show exponential, compounding growth. Lagging counties stay near zero — a gap driven by income, infrastructure, and population, not chance.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Momentum, income, and infrastructure — in that order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69164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691640"/>
            <a:ext cx="4206240" cy="1417320"/>
          </a:xfrm>
          <a:prstGeom prst="roundRect">
            <a:avLst>
              <a:gd name="adj" fmla="val 5161"/>
            </a:avLst>
          </a:prstGeom>
          <a:solidFill>
            <a:srgbClr val="F0F5F5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680960" y="17830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9418320" y="1847088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variation in county adoption rates is explained by the model (test data, 2024–2025)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452360" y="3337560"/>
            <a:ext cx="4206240" cy="2651760"/>
          </a:xfrm>
          <a:prstGeom prst="roundRect">
            <a:avLst>
              <a:gd name="adj" fmla="val 2759"/>
            </a:avLst>
          </a:prstGeom>
          <a:solidFill>
            <a:srgbClr val="0A2540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72668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726680" y="3977640"/>
            <a:ext cx="370332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Early-adopting counties keep pulling ahead — momentum compounds.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sets the pace, but isn't the whole story.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infrastructure can meaningfully substitute for income.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VALIDATION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models were tested — not just fit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1751076"/>
            <a:ext cx="338328" cy="338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Ridge Regression — Held-Out Test (2024–2025)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5349240" cy="9144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96% of adoption variance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prediction error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Predictions close to actual 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34340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with time-aware cross-validation (5-fold TimeSeriesSplit) — the model was never shown future years during tuning.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6263640" y="1691640"/>
            <a:ext cx="5349240" cy="352044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/home/claude/charts/model_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6246" y="1856232"/>
            <a:ext cx="5004029" cy="27340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428232" y="4700016"/>
            <a:ext cx="50200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 method &amp; silhouette score — confirms k = 3 clusters is optimal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Washington's counties fall into three distinct adoption profiles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10128" cy="4251960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011680"/>
            <a:ext cx="594360" cy="59436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515" y="2088947"/>
            <a:ext cx="439826" cy="43982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11680"/>
            <a:ext cx="202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High-Adoption Leaders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54480" y="2359152"/>
            <a:ext cx="2029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counties · 41%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41248" y="27889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~3.0%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41248" y="3364992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adoption rate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41248" y="3749040"/>
            <a:ext cx="27249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886200"/>
          <a:ext cx="2724912" cy="566928"/>
        </p:xfrm>
        <a:graphic>
          <a:graphicData uri="http://schemas.openxmlformats.org/drawingml/2006/table">
            <a:tbl>
              <a:tblPr/>
              <a:tblGrid>
                <a:gridCol w="1498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62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~$96K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Charging density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841248" y="4617720"/>
            <a:ext cx="272491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King, Snohomish, Clark, and other high-income, high-population counties. Adoption is self-sustaining.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178808" y="1737360"/>
            <a:ext cx="3310128" cy="4251960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471416" y="2011680"/>
            <a:ext cx="594360" cy="59436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683" y="2088947"/>
            <a:ext cx="439826" cy="43982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84648" y="2011680"/>
            <a:ext cx="202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Rising Markets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184648" y="2359152"/>
            <a:ext cx="2029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counties · 56%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471416" y="27889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~1.6%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4471416" y="3364992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adoption rate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471416" y="3749040"/>
            <a:ext cx="27249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2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71416" y="3886200"/>
          <a:ext cx="2724912" cy="566928"/>
        </p:xfrm>
        <a:graphic>
          <a:graphicData uri="http://schemas.openxmlformats.org/drawingml/2006/table">
            <a:tbl>
              <a:tblPr/>
              <a:tblGrid>
                <a:gridCol w="1498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62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$60K–95K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Charging density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" name="Text 17"/>
          <p:cNvSpPr/>
          <p:nvPr/>
        </p:nvSpPr>
        <p:spPr>
          <a:xfrm>
            <a:off x="4471416" y="4617720"/>
            <a:ext cx="272491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Juan, Jefferson, Kittitas, and similar counties. Infrastructure is compensating for lower income.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7808976" y="1737360"/>
            <a:ext cx="3310128" cy="4251960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8101584" y="2011680"/>
            <a:ext cx="594360" cy="59436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8851" y="2088947"/>
            <a:ext cx="439826" cy="43982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814816" y="2011680"/>
            <a:ext cx="202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Charging Desert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8814816" y="2359152"/>
            <a:ext cx="2029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county (Garfield)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8101584" y="27889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~0.1%</a:t>
            </a:r>
            <a:endParaRPr lang="en-US" sz="3000" dirty="0"/>
          </a:p>
        </p:txBody>
      </p:sp>
      <p:sp>
        <p:nvSpPr>
          <p:cNvPr id="30" name="Text 23"/>
          <p:cNvSpPr/>
          <p:nvPr/>
        </p:nvSpPr>
        <p:spPr>
          <a:xfrm>
            <a:off x="8101584" y="3364992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adoption rate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8101584" y="3749040"/>
            <a:ext cx="27249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3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01584" y="3886200"/>
          <a:ext cx="2724912" cy="566928"/>
        </p:xfrm>
        <a:graphic>
          <a:graphicData uri="http://schemas.openxmlformats.org/drawingml/2006/table">
            <a:tbl>
              <a:tblPr/>
              <a:tblGrid>
                <a:gridCol w="1498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62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~$71K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Charging density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3" name="Text 25"/>
          <p:cNvSpPr/>
          <p:nvPr/>
        </p:nvSpPr>
        <p:spPr>
          <a:xfrm>
            <a:off x="8101584" y="4617720"/>
            <a:ext cx="272491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income to Rising Markets counties, but zero public charging — momentum never starts.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VISUALIZED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Income and infrastructure separate the three groups cleanly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26364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charts/model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856232"/>
            <a:ext cx="5934456" cy="31977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5340096"/>
            <a:ext cx="59344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Counties plotted by income vs. charging density, sized by population; × marks cluster centers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132320" y="1691640"/>
            <a:ext cx="4507992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/home/claude/charts/model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12" y="1856232"/>
            <a:ext cx="4178808" cy="20841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296912" y="5340096"/>
            <a:ext cx="4178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rate and county count by cluster — confirms the 3 groups are meaningfully different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three-phase roadmap, matched to funding source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310128" cy="4160520"/>
          </a:xfrm>
          <a:prstGeom prst="roundRect">
            <a:avLst>
              <a:gd name="adj" fmla="val 2210"/>
            </a:avLst>
          </a:prstGeom>
          <a:solidFill>
            <a:srgbClr val="F0F5F5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075688"/>
            <a:ext cx="777240" cy="777240"/>
          </a:xfrm>
          <a:prstGeom prst="roundRect">
            <a:avLst>
              <a:gd name="adj" fmla="val 58824"/>
            </a:avLst>
          </a:prstGeom>
          <a:solidFill>
            <a:srgbClr val="0A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41248" y="207568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83080" y="2148840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783080" y="2404872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41248" y="3063240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GARFIELD COUNTY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41248" y="3383280"/>
            <a:ext cx="2724912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baseline highway-corridor charging to eliminate the state's only total charging desert.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1248" y="5148072"/>
            <a:ext cx="27249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1248" y="5257800"/>
            <a:ext cx="2724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41248" y="548640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public capital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178808" y="1783080"/>
            <a:ext cx="3310128" cy="4160520"/>
          </a:xfrm>
          <a:prstGeom prst="roundRect">
            <a:avLst>
              <a:gd name="adj" fmla="val 2210"/>
            </a:avLst>
          </a:prstGeom>
          <a:solidFill>
            <a:srgbClr val="F0F5F5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71416" y="2075688"/>
            <a:ext cx="777240" cy="777240"/>
          </a:xfrm>
          <a:prstGeom prst="roundRect">
            <a:avLst>
              <a:gd name="adj" fmla="val 5882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71416" y="207568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413248" y="2148840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13248" y="2404872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Activation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471416" y="3063240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MARKETS COUNTIES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471416" y="3383280"/>
            <a:ext cx="2724912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purchase rebates and used-BEV subsidies to unlock pent-up demand; maintain fast-charger uptime.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71416" y="5148072"/>
            <a:ext cx="27249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471416" y="5257800"/>
            <a:ext cx="2724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471416" y="548640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rebates + private matching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808976" y="1783080"/>
            <a:ext cx="3310128" cy="4160520"/>
          </a:xfrm>
          <a:prstGeom prst="roundRect">
            <a:avLst>
              <a:gd name="adj" fmla="val 2210"/>
            </a:avLst>
          </a:prstGeom>
          <a:solidFill>
            <a:srgbClr val="F0F5F5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101584" y="2075688"/>
            <a:ext cx="777240" cy="777240"/>
          </a:xfrm>
          <a:prstGeom prst="roundRect">
            <a:avLst>
              <a:gd name="adj" fmla="val 58824"/>
            </a:avLst>
          </a:prstGeom>
          <a:solidFill>
            <a:srgbClr val="3D8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101584" y="207568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043416" y="2148840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3D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043416" y="2404872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Autonomy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8101584" y="3063240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HIGH-ADOPTION LEADERS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101584" y="3383280"/>
            <a:ext cx="2724912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Rely on private commercial capital for destination charging; public spend limited to grid capacity and select low-income pockets.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01584" y="5148072"/>
            <a:ext cx="27249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101584" y="5257800"/>
            <a:ext cx="2724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101584" y="548640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D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private capital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 scarce public capital where it changes outcomes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20" y="1848460"/>
            <a:ext cx="372161" cy="3721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76479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Closes the state's one true charging desert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234440" y="2167128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targeted investment in Garfield County removes the only structural barrier where infrastructure — not income — is the constraint.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0" y="1783080"/>
            <a:ext cx="502920" cy="50292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3300" y="1848460"/>
            <a:ext cx="372161" cy="37216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6479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Activates demand where infrastructure is ready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903720" y="2167128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Markets counties already have charging supply; rebates convert existing infrastructure into adoption.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429000"/>
            <a:ext cx="502920" cy="50292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20" y="3494380"/>
            <a:ext cx="372161" cy="37216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41071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Frees public capital for where it's needed most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234440" y="3813048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High-Adoption Leaders can be served by private commercial investment, redirecting public dollars elsewhere.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17920" y="3429000"/>
            <a:ext cx="502920" cy="50292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3300" y="3494380"/>
            <a:ext cx="372161" cy="37216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03720" y="341071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scale beyond Washington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903720" y="3813048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data pipeline and models can be re-run on any state with comparable registration and infrastructure data.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points to a clear, fundable strategy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0A2540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103120"/>
            <a:ext cx="594360" cy="594360"/>
          </a:xfrm>
          <a:prstGeom prst="ellipse">
            <a:avLst/>
          </a:prstGeom>
          <a:solidFill>
            <a:srgbClr val="13355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947" y="2180387"/>
            <a:ext cx="439826" cy="43982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96012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adoption is not random — it is driven, predictably, by momentum, income, and infrastructure. Knowing which of those three is binding in a given county tells us exactly what kind of investment will move the needle there.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4160520"/>
            <a:ext cx="3502152" cy="1828800"/>
          </a:xfrm>
          <a:prstGeom prst="roundRect">
            <a:avLst>
              <a:gd name="adj" fmla="val 4000"/>
            </a:avLst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4672" y="4389120"/>
            <a:ext cx="2990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Regression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800600"/>
            <a:ext cx="299008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Quantifies what drives adoption and by how much (R² = 0.96).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25112" y="4160520"/>
            <a:ext cx="3502152" cy="1828800"/>
          </a:xfrm>
          <a:prstGeom prst="roundRect">
            <a:avLst>
              <a:gd name="adj" fmla="val 4000"/>
            </a:avLst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581144" y="4389120"/>
            <a:ext cx="2990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581144" y="4800600"/>
            <a:ext cx="299008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those drivers into 3 actionable county segments.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101584" y="4160520"/>
            <a:ext cx="3502152" cy="1828800"/>
          </a:xfrm>
          <a:prstGeom prst="roundRect">
            <a:avLst>
              <a:gd name="adj" fmla="val 4000"/>
            </a:avLst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357616" y="4389120"/>
            <a:ext cx="2990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357616" y="4800600"/>
            <a:ext cx="299008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each segment to the right funding mechanism.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840480"/>
            <a:ext cx="5486400" cy="5486400"/>
          </a:xfrm>
          <a:prstGeom prst="ellipse">
            <a:avLst/>
          </a:prstGeom>
          <a:solidFill>
            <a:srgbClr val="1335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" y="548640"/>
            <a:ext cx="640080" cy="640080"/>
          </a:xfrm>
          <a:prstGeom prst="ellipse">
            <a:avLst/>
          </a:prstGeom>
          <a:solidFill>
            <a:srgbClr val="13355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90" y="631850"/>
            <a:ext cx="473659" cy="4736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path forward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34440" y="277063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highway-corridor charging investment in Garfield County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5661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34440" y="35478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rebate / used-BEV subsidy program for Rising Markets counties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4343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4864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234440" y="432511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private and utility partners on buildout in Leader counties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51206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48640" y="5120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34440" y="510235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framework to additional states for broader validation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CITATIONS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sources and references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11480" cy="411480"/>
          </a:xfrm>
          <a:prstGeom prst="ellipse">
            <a:avLst/>
          </a:prstGeom>
          <a:solidFill>
            <a:srgbClr val="F0F5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132" y="1745132"/>
            <a:ext cx="304495" cy="30449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737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Datasets (Washington State Open Data, 2017–2025)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 Vehicle Population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data.wa.gov/Transportation/Electric-Vehicle-Population-Data/f6w7-q2d2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Registrations by Class and County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data.wa.gov/Transportation/Vehicle-Registrations-by-Class-and-County/hmzg-s6q4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Household Income Estimates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ofm.wa.gov/data-research/economy/median-household-income-estimates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Estimates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ofm.wa.gov/data-research/population-demographics/estimates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 Charging Stations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ev-map-wsdot.hub.arcgis.com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02920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54864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reference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EPA, "Sources of Greenhouse Gas Emissions" — transportation share of 2022 U.S. emissions (epa.gov/ghgemissions/sources-greenhouse-gas-emissions), cited on slide 2.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methodology, assumptions, and limitations are documented in the accompanying project report and README.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335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" y="640080"/>
            <a:ext cx="640080" cy="640080"/>
          </a:xfrm>
          <a:prstGeom prst="ellipse">
            <a:avLst/>
          </a:prstGeom>
          <a:solidFill>
            <a:srgbClr val="13355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90" y="723290"/>
            <a:ext cx="473659" cy="4736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3774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3337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480560"/>
            <a:ext cx="384048" cy="384048"/>
          </a:xfrm>
          <a:prstGeom prst="ellipse">
            <a:avLst/>
          </a:prstGeom>
          <a:solidFill>
            <a:srgbClr val="13355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566" y="4530486"/>
            <a:ext cx="284196" cy="2841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97280" y="448056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contact@example.com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13355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566" y="5060838"/>
            <a:ext cx="284196" cy="28419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97280" y="5010912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github.com/your-repo/ev-adoption-capstone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5541264"/>
            <a:ext cx="384048" cy="384048"/>
          </a:xfrm>
          <a:prstGeom prst="ellipse">
            <a:avLst/>
          </a:prstGeom>
          <a:solidFill>
            <a:srgbClr val="13355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566" y="5591190"/>
            <a:ext cx="284196" cy="28419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97280" y="5541264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linkedin.com/in/your-profile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1307</Words>
  <Application>Microsoft Office PowerPoint</Application>
  <PresentationFormat>Widescreen</PresentationFormat>
  <Paragraphs>218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Accelerating EV Adoption — Executive Briefing</dc:title>
  <dc:subject>PptxGenJS Presentation</dc:subject>
  <dc:creator>Springboard Capstone 3</dc:creator>
  <cp:lastModifiedBy>Sanjay Gawande</cp:lastModifiedBy>
  <cp:revision>3</cp:revision>
  <dcterms:created xsi:type="dcterms:W3CDTF">2026-07-05T20:53:23Z</dcterms:created>
  <dcterms:modified xsi:type="dcterms:W3CDTF">2026-07-05T21:02:43Z</dcterms:modified>
</cp:coreProperties>
</file>