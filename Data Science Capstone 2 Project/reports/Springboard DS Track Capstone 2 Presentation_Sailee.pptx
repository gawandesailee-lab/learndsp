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21"/>
  </p:notesMasterIdLst>
  <p:sldIdLst>
    <p:sldId id="270" r:id="rId2"/>
    <p:sldId id="257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D2E6"/>
    <a:srgbClr val="F6B154"/>
    <a:srgbClr val="C7DE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82" d="100"/>
          <a:sy n="82" d="100"/>
        </p:scale>
        <p:origin x="108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410B2D4-94D5-4A49-8947-D64419592F41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A67C8EA-F28F-4A51-84C6-98D3DA7B99BE}">
      <dgm:prSet/>
      <dgm:spPr>
        <a:ln>
          <a:noFill/>
        </a:ln>
      </dgm:spPr>
      <dgm:t>
        <a:bodyPr/>
        <a:lstStyle/>
        <a:p>
          <a:r>
            <a:rPr lang="en-US" dirty="0"/>
            <a:t>Global CO2 Emissions are up 60% in past 3 decades)</a:t>
          </a:r>
        </a:p>
      </dgm:t>
    </dgm:pt>
    <dgm:pt modelId="{3AA4B216-DD04-44DC-9149-B6F059C9BCAF}" type="parTrans" cxnId="{EF965EBC-B595-4145-B44A-690DAF7906EF}">
      <dgm:prSet/>
      <dgm:spPr/>
      <dgm:t>
        <a:bodyPr/>
        <a:lstStyle/>
        <a:p>
          <a:endParaRPr lang="en-US"/>
        </a:p>
      </dgm:t>
    </dgm:pt>
    <dgm:pt modelId="{BFEA4191-828C-4195-A445-5236408F0106}" type="sibTrans" cxnId="{EF965EBC-B595-4145-B44A-690DAF7906EF}">
      <dgm:prSet phldrT="01" phldr="0"/>
      <dgm:spPr/>
      <dgm:t>
        <a:bodyPr/>
        <a:lstStyle/>
        <a:p>
          <a:r>
            <a:rPr lang="en-US"/>
            <a:t>01</a:t>
          </a:r>
          <a:endParaRPr lang="en-US" dirty="0"/>
        </a:p>
      </dgm:t>
    </dgm:pt>
    <dgm:pt modelId="{EFC392B3-E498-44C8-BE59-FFFF67520500}">
      <dgm:prSet/>
      <dgm:spPr>
        <a:ln>
          <a:noFill/>
        </a:ln>
      </dgm:spPr>
      <dgm:t>
        <a:bodyPr/>
        <a:lstStyle/>
        <a:p>
          <a:r>
            <a:rPr lang="en-US"/>
            <a:t>Global Plastic Production up ~280%  in past 3 decades</a:t>
          </a:r>
        </a:p>
      </dgm:t>
    </dgm:pt>
    <dgm:pt modelId="{C8E058BB-1001-47EF-AB62-2D70066D1C71}" type="parTrans" cxnId="{9F9F954B-582A-42A3-A1BD-CE54F06CC225}">
      <dgm:prSet/>
      <dgm:spPr/>
      <dgm:t>
        <a:bodyPr/>
        <a:lstStyle/>
        <a:p>
          <a:endParaRPr lang="en-US"/>
        </a:p>
      </dgm:t>
    </dgm:pt>
    <dgm:pt modelId="{02025070-A3F4-4523-B778-C49C9ADB5A23}" type="sibTrans" cxnId="{9F9F954B-582A-42A3-A1BD-CE54F06CC225}">
      <dgm:prSet phldrT="02" phldr="0"/>
      <dgm:spPr/>
      <dgm:t>
        <a:bodyPr/>
        <a:lstStyle/>
        <a:p>
          <a:r>
            <a:rPr lang="en-US"/>
            <a:t>02</a:t>
          </a:r>
          <a:endParaRPr lang="en-US" dirty="0"/>
        </a:p>
      </dgm:t>
    </dgm:pt>
    <dgm:pt modelId="{6BDEDADA-4CA3-4419-BD66-C1B02B823D85}">
      <dgm:prSet/>
      <dgm:spPr>
        <a:ln>
          <a:noFill/>
        </a:ln>
      </dgm:spPr>
      <dgm:t>
        <a:bodyPr/>
        <a:lstStyle/>
        <a:p>
          <a:r>
            <a:rPr lang="en-US"/>
            <a:t>Global Energy Demand continues to increase as well</a:t>
          </a:r>
        </a:p>
      </dgm:t>
    </dgm:pt>
    <dgm:pt modelId="{11944278-4371-4025-B5B0-DA6F7CF97365}" type="parTrans" cxnId="{739AD822-65E9-4325-BBCE-117B1C90B5A1}">
      <dgm:prSet/>
      <dgm:spPr/>
      <dgm:t>
        <a:bodyPr/>
        <a:lstStyle/>
        <a:p>
          <a:endParaRPr lang="en-US"/>
        </a:p>
      </dgm:t>
    </dgm:pt>
    <dgm:pt modelId="{1F10036E-19BC-4568-9127-82DD69BE930A}" type="sibTrans" cxnId="{739AD822-65E9-4325-BBCE-117B1C90B5A1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DCF71FC9-EDCE-48AA-B851-7F6E236FE3EE}">
      <dgm:prSet/>
      <dgm:spPr>
        <a:ln>
          <a:noFill/>
        </a:ln>
      </dgm:spPr>
      <dgm:t>
        <a:bodyPr/>
        <a:lstStyle/>
        <a:p>
          <a:r>
            <a:rPr lang="en-US"/>
            <a:t>Energy derived from Fossil Fuels leads to Global Warming</a:t>
          </a:r>
          <a:endParaRPr lang="en-US" dirty="0"/>
        </a:p>
      </dgm:t>
    </dgm:pt>
    <dgm:pt modelId="{BADC1747-5AA3-4A22-9A05-77ED8CEDE416}" type="parTrans" cxnId="{0766AFD6-2985-48DC-8A63-7C27FF37F3A3}">
      <dgm:prSet/>
      <dgm:spPr/>
      <dgm:t>
        <a:bodyPr/>
        <a:lstStyle/>
        <a:p>
          <a:endParaRPr lang="en-US"/>
        </a:p>
      </dgm:t>
    </dgm:pt>
    <dgm:pt modelId="{EA0F9647-3CB6-48DE-AB67-E1EF93FA1B56}" type="sibTrans" cxnId="{0766AFD6-2985-48DC-8A63-7C27FF37F3A3}">
      <dgm:prSet phldrT="04" phldr="0"/>
      <dgm:spPr/>
      <dgm:t>
        <a:bodyPr/>
        <a:lstStyle/>
        <a:p>
          <a:r>
            <a:rPr lang="en-US"/>
            <a:t>04</a:t>
          </a:r>
        </a:p>
      </dgm:t>
    </dgm:pt>
    <dgm:pt modelId="{83798360-FF76-4144-87A5-34818C8C999A}" type="pres">
      <dgm:prSet presAssocID="{4410B2D4-94D5-4A49-8947-D64419592F41}" presName="Name0" presStyleCnt="0">
        <dgm:presLayoutVars>
          <dgm:animLvl val="lvl"/>
          <dgm:resizeHandles val="exact"/>
        </dgm:presLayoutVars>
      </dgm:prSet>
      <dgm:spPr/>
    </dgm:pt>
    <dgm:pt modelId="{B6264E89-5E7F-433A-A11C-16D6FAA22978}" type="pres">
      <dgm:prSet presAssocID="{3A67C8EA-F28F-4A51-84C6-98D3DA7B99BE}" presName="compositeNode" presStyleCnt="0">
        <dgm:presLayoutVars>
          <dgm:bulletEnabled val="1"/>
        </dgm:presLayoutVars>
      </dgm:prSet>
      <dgm:spPr/>
    </dgm:pt>
    <dgm:pt modelId="{69DF403A-4D2E-48A3-A9D1-9ECD7FD86DBF}" type="pres">
      <dgm:prSet presAssocID="{3A67C8EA-F28F-4A51-84C6-98D3DA7B99BE}" presName="bgRect" presStyleLbl="alignNode1" presStyleIdx="0" presStyleCnt="4"/>
      <dgm:spPr/>
    </dgm:pt>
    <dgm:pt modelId="{F4F8C344-7D1C-46C6-9A11-848875416EFF}" type="pres">
      <dgm:prSet presAssocID="{BFEA4191-828C-4195-A445-5236408F0106}" presName="sibTransNodeRect" presStyleLbl="alignNode1" presStyleIdx="0" presStyleCnt="4" custScaleX="83537" custScaleY="89395">
        <dgm:presLayoutVars>
          <dgm:chMax val="0"/>
          <dgm:bulletEnabled val="1"/>
        </dgm:presLayoutVars>
      </dgm:prSet>
      <dgm:spPr/>
    </dgm:pt>
    <dgm:pt modelId="{1634EE3B-793F-4B1F-8BF8-F9C16014BE28}" type="pres">
      <dgm:prSet presAssocID="{3A67C8EA-F28F-4A51-84C6-98D3DA7B99BE}" presName="nodeRect" presStyleLbl="alignNode1" presStyleIdx="0" presStyleCnt="4">
        <dgm:presLayoutVars>
          <dgm:bulletEnabled val="1"/>
        </dgm:presLayoutVars>
      </dgm:prSet>
      <dgm:spPr/>
    </dgm:pt>
    <dgm:pt modelId="{72F0F4E1-992C-441E-9C67-E1A606EB3D28}" type="pres">
      <dgm:prSet presAssocID="{BFEA4191-828C-4195-A445-5236408F0106}" presName="sibTrans" presStyleCnt="0"/>
      <dgm:spPr/>
    </dgm:pt>
    <dgm:pt modelId="{56B9E8CC-5767-41A1-BE6F-DB9DC22CBC2D}" type="pres">
      <dgm:prSet presAssocID="{EFC392B3-E498-44C8-BE59-FFFF67520500}" presName="compositeNode" presStyleCnt="0">
        <dgm:presLayoutVars>
          <dgm:bulletEnabled val="1"/>
        </dgm:presLayoutVars>
      </dgm:prSet>
      <dgm:spPr/>
    </dgm:pt>
    <dgm:pt modelId="{EB963515-5808-4C80-9984-917F35489400}" type="pres">
      <dgm:prSet presAssocID="{EFC392B3-E498-44C8-BE59-FFFF67520500}" presName="bgRect" presStyleLbl="alignNode1" presStyleIdx="1" presStyleCnt="4"/>
      <dgm:spPr/>
    </dgm:pt>
    <dgm:pt modelId="{16DBDCD5-A41E-4007-B577-9C0948C6F632}" type="pres">
      <dgm:prSet presAssocID="{02025070-A3F4-4523-B778-C49C9ADB5A23}" presName="sibTransNodeRect" presStyleLbl="alignNode1" presStyleIdx="1" presStyleCnt="4">
        <dgm:presLayoutVars>
          <dgm:chMax val="0"/>
          <dgm:bulletEnabled val="1"/>
        </dgm:presLayoutVars>
      </dgm:prSet>
      <dgm:spPr/>
    </dgm:pt>
    <dgm:pt modelId="{524E5704-D34D-4640-9153-A124CFE4F646}" type="pres">
      <dgm:prSet presAssocID="{EFC392B3-E498-44C8-BE59-FFFF67520500}" presName="nodeRect" presStyleLbl="alignNode1" presStyleIdx="1" presStyleCnt="4">
        <dgm:presLayoutVars>
          <dgm:bulletEnabled val="1"/>
        </dgm:presLayoutVars>
      </dgm:prSet>
      <dgm:spPr/>
    </dgm:pt>
    <dgm:pt modelId="{CEFF8EE3-2F29-4D16-B6BA-E2D2BED8445F}" type="pres">
      <dgm:prSet presAssocID="{02025070-A3F4-4523-B778-C49C9ADB5A23}" presName="sibTrans" presStyleCnt="0"/>
      <dgm:spPr/>
    </dgm:pt>
    <dgm:pt modelId="{05734F24-CFA7-4CC0-A292-790E2BAEBB18}" type="pres">
      <dgm:prSet presAssocID="{6BDEDADA-4CA3-4419-BD66-C1B02B823D85}" presName="compositeNode" presStyleCnt="0">
        <dgm:presLayoutVars>
          <dgm:bulletEnabled val="1"/>
        </dgm:presLayoutVars>
      </dgm:prSet>
      <dgm:spPr/>
    </dgm:pt>
    <dgm:pt modelId="{EE6BD008-579C-48F1-9121-632E6C8D276C}" type="pres">
      <dgm:prSet presAssocID="{6BDEDADA-4CA3-4419-BD66-C1B02B823D85}" presName="bgRect" presStyleLbl="alignNode1" presStyleIdx="2" presStyleCnt="4"/>
      <dgm:spPr/>
    </dgm:pt>
    <dgm:pt modelId="{5BE155CE-2C5B-4387-98F5-DC9FCCBE531E}" type="pres">
      <dgm:prSet presAssocID="{1F10036E-19BC-4568-9127-82DD69BE930A}" presName="sibTransNodeRect" presStyleLbl="alignNode1" presStyleIdx="2" presStyleCnt="4">
        <dgm:presLayoutVars>
          <dgm:chMax val="0"/>
          <dgm:bulletEnabled val="1"/>
        </dgm:presLayoutVars>
      </dgm:prSet>
      <dgm:spPr/>
    </dgm:pt>
    <dgm:pt modelId="{807B2187-35D3-4CA0-8DFC-93F81F31AC62}" type="pres">
      <dgm:prSet presAssocID="{6BDEDADA-4CA3-4419-BD66-C1B02B823D85}" presName="nodeRect" presStyleLbl="alignNode1" presStyleIdx="2" presStyleCnt="4">
        <dgm:presLayoutVars>
          <dgm:bulletEnabled val="1"/>
        </dgm:presLayoutVars>
      </dgm:prSet>
      <dgm:spPr/>
    </dgm:pt>
    <dgm:pt modelId="{3F02C2C7-9A37-4978-B370-87656BE28047}" type="pres">
      <dgm:prSet presAssocID="{1F10036E-19BC-4568-9127-82DD69BE930A}" presName="sibTrans" presStyleCnt="0"/>
      <dgm:spPr/>
    </dgm:pt>
    <dgm:pt modelId="{52FBAE13-95FC-4DE7-90CD-5AC33B5CE1D9}" type="pres">
      <dgm:prSet presAssocID="{DCF71FC9-EDCE-48AA-B851-7F6E236FE3EE}" presName="compositeNode" presStyleCnt="0">
        <dgm:presLayoutVars>
          <dgm:bulletEnabled val="1"/>
        </dgm:presLayoutVars>
      </dgm:prSet>
      <dgm:spPr/>
    </dgm:pt>
    <dgm:pt modelId="{746AD9D3-4BBD-4A07-B2DE-C17A1CAFF3C6}" type="pres">
      <dgm:prSet presAssocID="{DCF71FC9-EDCE-48AA-B851-7F6E236FE3EE}" presName="bgRect" presStyleLbl="alignNode1" presStyleIdx="3" presStyleCnt="4"/>
      <dgm:spPr/>
    </dgm:pt>
    <dgm:pt modelId="{9998EA42-EABD-4F37-94D7-835AA2D9D8C0}" type="pres">
      <dgm:prSet presAssocID="{EA0F9647-3CB6-48DE-AB67-E1EF93FA1B56}" presName="sibTransNodeRect" presStyleLbl="alignNode1" presStyleIdx="3" presStyleCnt="4">
        <dgm:presLayoutVars>
          <dgm:chMax val="0"/>
          <dgm:bulletEnabled val="1"/>
        </dgm:presLayoutVars>
      </dgm:prSet>
      <dgm:spPr/>
    </dgm:pt>
    <dgm:pt modelId="{89ED2415-0C6C-4E07-B6A4-6E3F1D7BEA06}" type="pres">
      <dgm:prSet presAssocID="{DCF71FC9-EDCE-48AA-B851-7F6E236FE3EE}" presName="nodeRect" presStyleLbl="alignNode1" presStyleIdx="3" presStyleCnt="4">
        <dgm:presLayoutVars>
          <dgm:bulletEnabled val="1"/>
        </dgm:presLayoutVars>
      </dgm:prSet>
      <dgm:spPr/>
    </dgm:pt>
  </dgm:ptLst>
  <dgm:cxnLst>
    <dgm:cxn modelId="{CD5BF105-9C10-44B0-864C-F25399BA573D}" type="presOf" srcId="{6BDEDADA-4CA3-4419-BD66-C1B02B823D85}" destId="{EE6BD008-579C-48F1-9121-632E6C8D276C}" srcOrd="0" destOrd="0" presId="urn:microsoft.com/office/officeart/2016/7/layout/LinearBlockProcessNumbered"/>
    <dgm:cxn modelId="{A1E7BE18-3652-401A-9CA3-52D74C11C067}" type="presOf" srcId="{3A67C8EA-F28F-4A51-84C6-98D3DA7B99BE}" destId="{69DF403A-4D2E-48A3-A9D1-9ECD7FD86DBF}" srcOrd="0" destOrd="0" presId="urn:microsoft.com/office/officeart/2016/7/layout/LinearBlockProcessNumbered"/>
    <dgm:cxn modelId="{2E86CF1A-F517-4330-82E5-07CAD168EF19}" type="presOf" srcId="{3A67C8EA-F28F-4A51-84C6-98D3DA7B99BE}" destId="{1634EE3B-793F-4B1F-8BF8-F9C16014BE28}" srcOrd="1" destOrd="0" presId="urn:microsoft.com/office/officeart/2016/7/layout/LinearBlockProcessNumbered"/>
    <dgm:cxn modelId="{739AD822-65E9-4325-BBCE-117B1C90B5A1}" srcId="{4410B2D4-94D5-4A49-8947-D64419592F41}" destId="{6BDEDADA-4CA3-4419-BD66-C1B02B823D85}" srcOrd="2" destOrd="0" parTransId="{11944278-4371-4025-B5B0-DA6F7CF97365}" sibTransId="{1F10036E-19BC-4568-9127-82DD69BE930A}"/>
    <dgm:cxn modelId="{B6FA433D-3E3C-4D74-8511-7FFE4CA65869}" type="presOf" srcId="{BFEA4191-828C-4195-A445-5236408F0106}" destId="{F4F8C344-7D1C-46C6-9A11-848875416EFF}" srcOrd="0" destOrd="0" presId="urn:microsoft.com/office/officeart/2016/7/layout/LinearBlockProcessNumbered"/>
    <dgm:cxn modelId="{6E497B3D-04B7-451B-BEAC-59F906981B92}" type="presOf" srcId="{EFC392B3-E498-44C8-BE59-FFFF67520500}" destId="{EB963515-5808-4C80-9984-917F35489400}" srcOrd="0" destOrd="0" presId="urn:microsoft.com/office/officeart/2016/7/layout/LinearBlockProcessNumbered"/>
    <dgm:cxn modelId="{6D6EAE43-5596-41B2-82CB-9491B1DF9E99}" type="presOf" srcId="{EA0F9647-3CB6-48DE-AB67-E1EF93FA1B56}" destId="{9998EA42-EABD-4F37-94D7-835AA2D9D8C0}" srcOrd="0" destOrd="0" presId="urn:microsoft.com/office/officeart/2016/7/layout/LinearBlockProcessNumbered"/>
    <dgm:cxn modelId="{2F469167-68D6-4F0C-AE21-CE5380883BCF}" type="presOf" srcId="{1F10036E-19BC-4568-9127-82DD69BE930A}" destId="{5BE155CE-2C5B-4387-98F5-DC9FCCBE531E}" srcOrd="0" destOrd="0" presId="urn:microsoft.com/office/officeart/2016/7/layout/LinearBlockProcessNumbered"/>
    <dgm:cxn modelId="{9F9F954B-582A-42A3-A1BD-CE54F06CC225}" srcId="{4410B2D4-94D5-4A49-8947-D64419592F41}" destId="{EFC392B3-E498-44C8-BE59-FFFF67520500}" srcOrd="1" destOrd="0" parTransId="{C8E058BB-1001-47EF-AB62-2D70066D1C71}" sibTransId="{02025070-A3F4-4523-B778-C49C9ADB5A23}"/>
    <dgm:cxn modelId="{6B25A558-F9A0-4C15-8C2D-66C5F579E751}" type="presOf" srcId="{4410B2D4-94D5-4A49-8947-D64419592F41}" destId="{83798360-FF76-4144-87A5-34818C8C999A}" srcOrd="0" destOrd="0" presId="urn:microsoft.com/office/officeart/2016/7/layout/LinearBlockProcessNumbered"/>
    <dgm:cxn modelId="{CEB274B0-DB9D-4430-8D15-02D02EAF6A9F}" type="presOf" srcId="{02025070-A3F4-4523-B778-C49C9ADB5A23}" destId="{16DBDCD5-A41E-4007-B577-9C0948C6F632}" srcOrd="0" destOrd="0" presId="urn:microsoft.com/office/officeart/2016/7/layout/LinearBlockProcessNumbered"/>
    <dgm:cxn modelId="{EF965EBC-B595-4145-B44A-690DAF7906EF}" srcId="{4410B2D4-94D5-4A49-8947-D64419592F41}" destId="{3A67C8EA-F28F-4A51-84C6-98D3DA7B99BE}" srcOrd="0" destOrd="0" parTransId="{3AA4B216-DD04-44DC-9149-B6F059C9BCAF}" sibTransId="{BFEA4191-828C-4195-A445-5236408F0106}"/>
    <dgm:cxn modelId="{0766AFD6-2985-48DC-8A63-7C27FF37F3A3}" srcId="{4410B2D4-94D5-4A49-8947-D64419592F41}" destId="{DCF71FC9-EDCE-48AA-B851-7F6E236FE3EE}" srcOrd="3" destOrd="0" parTransId="{BADC1747-5AA3-4A22-9A05-77ED8CEDE416}" sibTransId="{EA0F9647-3CB6-48DE-AB67-E1EF93FA1B56}"/>
    <dgm:cxn modelId="{577EEFD8-2CC5-4732-BEF0-4BC893DCC6E2}" type="presOf" srcId="{DCF71FC9-EDCE-48AA-B851-7F6E236FE3EE}" destId="{89ED2415-0C6C-4E07-B6A4-6E3F1D7BEA06}" srcOrd="1" destOrd="0" presId="urn:microsoft.com/office/officeart/2016/7/layout/LinearBlockProcessNumbered"/>
    <dgm:cxn modelId="{4A75A7DA-1B4D-4C77-BF3B-5AFF4275EACF}" type="presOf" srcId="{EFC392B3-E498-44C8-BE59-FFFF67520500}" destId="{524E5704-D34D-4640-9153-A124CFE4F646}" srcOrd="1" destOrd="0" presId="urn:microsoft.com/office/officeart/2016/7/layout/LinearBlockProcessNumbered"/>
    <dgm:cxn modelId="{009CCFE0-95B9-4E6C-AF3B-3B83B76E4497}" type="presOf" srcId="{DCF71FC9-EDCE-48AA-B851-7F6E236FE3EE}" destId="{746AD9D3-4BBD-4A07-B2DE-C17A1CAFF3C6}" srcOrd="0" destOrd="0" presId="urn:microsoft.com/office/officeart/2016/7/layout/LinearBlockProcessNumbered"/>
    <dgm:cxn modelId="{637A8FF0-FE7B-42D3-8D6F-EC8FBF3F941C}" type="presOf" srcId="{6BDEDADA-4CA3-4419-BD66-C1B02B823D85}" destId="{807B2187-35D3-4CA0-8DFC-93F81F31AC62}" srcOrd="1" destOrd="0" presId="urn:microsoft.com/office/officeart/2016/7/layout/LinearBlockProcessNumbered"/>
    <dgm:cxn modelId="{9A3322B6-93CB-44F0-9C9D-F6982F0F9957}" type="presParOf" srcId="{83798360-FF76-4144-87A5-34818C8C999A}" destId="{B6264E89-5E7F-433A-A11C-16D6FAA22978}" srcOrd="0" destOrd="0" presId="urn:microsoft.com/office/officeart/2016/7/layout/LinearBlockProcessNumbered"/>
    <dgm:cxn modelId="{7A16AD52-3AD9-4491-9FF1-68E48AF4650D}" type="presParOf" srcId="{B6264E89-5E7F-433A-A11C-16D6FAA22978}" destId="{69DF403A-4D2E-48A3-A9D1-9ECD7FD86DBF}" srcOrd="0" destOrd="0" presId="urn:microsoft.com/office/officeart/2016/7/layout/LinearBlockProcessNumbered"/>
    <dgm:cxn modelId="{F8290FE9-43C5-4363-AE54-02577485E6B3}" type="presParOf" srcId="{B6264E89-5E7F-433A-A11C-16D6FAA22978}" destId="{F4F8C344-7D1C-46C6-9A11-848875416EFF}" srcOrd="1" destOrd="0" presId="urn:microsoft.com/office/officeart/2016/7/layout/LinearBlockProcessNumbered"/>
    <dgm:cxn modelId="{39C5A57B-8899-4714-B89A-22C80D43A431}" type="presParOf" srcId="{B6264E89-5E7F-433A-A11C-16D6FAA22978}" destId="{1634EE3B-793F-4B1F-8BF8-F9C16014BE28}" srcOrd="2" destOrd="0" presId="urn:microsoft.com/office/officeart/2016/7/layout/LinearBlockProcessNumbered"/>
    <dgm:cxn modelId="{6B9A1D40-D8F1-4E6C-B83F-A19A8F3C0355}" type="presParOf" srcId="{83798360-FF76-4144-87A5-34818C8C999A}" destId="{72F0F4E1-992C-441E-9C67-E1A606EB3D28}" srcOrd="1" destOrd="0" presId="urn:microsoft.com/office/officeart/2016/7/layout/LinearBlockProcessNumbered"/>
    <dgm:cxn modelId="{F2FC1174-5350-4651-A5DD-E04B28602FAD}" type="presParOf" srcId="{83798360-FF76-4144-87A5-34818C8C999A}" destId="{56B9E8CC-5767-41A1-BE6F-DB9DC22CBC2D}" srcOrd="2" destOrd="0" presId="urn:microsoft.com/office/officeart/2016/7/layout/LinearBlockProcessNumbered"/>
    <dgm:cxn modelId="{39E4BFA4-81D8-4552-B096-A5FBBBEF8E9C}" type="presParOf" srcId="{56B9E8CC-5767-41A1-BE6F-DB9DC22CBC2D}" destId="{EB963515-5808-4C80-9984-917F35489400}" srcOrd="0" destOrd="0" presId="urn:microsoft.com/office/officeart/2016/7/layout/LinearBlockProcessNumbered"/>
    <dgm:cxn modelId="{EB21F0BD-5193-4D4E-BF9D-8BBE794452BA}" type="presParOf" srcId="{56B9E8CC-5767-41A1-BE6F-DB9DC22CBC2D}" destId="{16DBDCD5-A41E-4007-B577-9C0948C6F632}" srcOrd="1" destOrd="0" presId="urn:microsoft.com/office/officeart/2016/7/layout/LinearBlockProcessNumbered"/>
    <dgm:cxn modelId="{BD10DBC7-A62B-4DD2-8016-6164C8C48623}" type="presParOf" srcId="{56B9E8CC-5767-41A1-BE6F-DB9DC22CBC2D}" destId="{524E5704-D34D-4640-9153-A124CFE4F646}" srcOrd="2" destOrd="0" presId="urn:microsoft.com/office/officeart/2016/7/layout/LinearBlockProcessNumbered"/>
    <dgm:cxn modelId="{E270BB70-A631-43D3-8226-ADFDF6B72E03}" type="presParOf" srcId="{83798360-FF76-4144-87A5-34818C8C999A}" destId="{CEFF8EE3-2F29-4D16-B6BA-E2D2BED8445F}" srcOrd="3" destOrd="0" presId="urn:microsoft.com/office/officeart/2016/7/layout/LinearBlockProcessNumbered"/>
    <dgm:cxn modelId="{73B0395D-D0B3-4571-8F59-FB55B463B82D}" type="presParOf" srcId="{83798360-FF76-4144-87A5-34818C8C999A}" destId="{05734F24-CFA7-4CC0-A292-790E2BAEBB18}" srcOrd="4" destOrd="0" presId="urn:microsoft.com/office/officeart/2016/7/layout/LinearBlockProcessNumbered"/>
    <dgm:cxn modelId="{DD2F309A-D266-4165-86FF-566A1E08B231}" type="presParOf" srcId="{05734F24-CFA7-4CC0-A292-790E2BAEBB18}" destId="{EE6BD008-579C-48F1-9121-632E6C8D276C}" srcOrd="0" destOrd="0" presId="urn:microsoft.com/office/officeart/2016/7/layout/LinearBlockProcessNumbered"/>
    <dgm:cxn modelId="{D4C0560C-2051-4749-B2E4-5BC339446827}" type="presParOf" srcId="{05734F24-CFA7-4CC0-A292-790E2BAEBB18}" destId="{5BE155CE-2C5B-4387-98F5-DC9FCCBE531E}" srcOrd="1" destOrd="0" presId="urn:microsoft.com/office/officeart/2016/7/layout/LinearBlockProcessNumbered"/>
    <dgm:cxn modelId="{13053870-EC26-45A3-9A17-6010EB08365E}" type="presParOf" srcId="{05734F24-CFA7-4CC0-A292-790E2BAEBB18}" destId="{807B2187-35D3-4CA0-8DFC-93F81F31AC62}" srcOrd="2" destOrd="0" presId="urn:microsoft.com/office/officeart/2016/7/layout/LinearBlockProcessNumbered"/>
    <dgm:cxn modelId="{8B132DCE-A0A2-4730-9E30-29197DF71917}" type="presParOf" srcId="{83798360-FF76-4144-87A5-34818C8C999A}" destId="{3F02C2C7-9A37-4978-B370-87656BE28047}" srcOrd="5" destOrd="0" presId="urn:microsoft.com/office/officeart/2016/7/layout/LinearBlockProcessNumbered"/>
    <dgm:cxn modelId="{B86649CD-5D2D-414B-ACC1-C7BBB064EA10}" type="presParOf" srcId="{83798360-FF76-4144-87A5-34818C8C999A}" destId="{52FBAE13-95FC-4DE7-90CD-5AC33B5CE1D9}" srcOrd="6" destOrd="0" presId="urn:microsoft.com/office/officeart/2016/7/layout/LinearBlockProcessNumbered"/>
    <dgm:cxn modelId="{BC8A96ED-A5A8-43BA-A851-077069F3C823}" type="presParOf" srcId="{52FBAE13-95FC-4DE7-90CD-5AC33B5CE1D9}" destId="{746AD9D3-4BBD-4A07-B2DE-C17A1CAFF3C6}" srcOrd="0" destOrd="0" presId="urn:microsoft.com/office/officeart/2016/7/layout/LinearBlockProcessNumbered"/>
    <dgm:cxn modelId="{9F4235E3-FA4E-44C3-8D81-26058DEFC3AD}" type="presParOf" srcId="{52FBAE13-95FC-4DE7-90CD-5AC33B5CE1D9}" destId="{9998EA42-EABD-4F37-94D7-835AA2D9D8C0}" srcOrd="1" destOrd="0" presId="urn:microsoft.com/office/officeart/2016/7/layout/LinearBlockProcessNumbered"/>
    <dgm:cxn modelId="{0A59EB2F-153E-4C58-8190-F3F16DA77F0B}" type="presParOf" srcId="{52FBAE13-95FC-4DE7-90CD-5AC33B5CE1D9}" destId="{89ED2415-0C6C-4E07-B6A4-6E3F1D7BEA06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DF403A-4D2E-48A3-A9D1-9ECD7FD86DBF}">
      <dsp:nvSpPr>
        <dsp:cNvPr id="0" name=""/>
        <dsp:cNvSpPr/>
      </dsp:nvSpPr>
      <dsp:spPr>
        <a:xfrm>
          <a:off x="154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Global CO2 Emissions are up 60% in past 3 decades)</a:t>
          </a:r>
        </a:p>
      </dsp:txBody>
      <dsp:txXfrm>
        <a:off x="154" y="1409004"/>
        <a:ext cx="1859998" cy="1339198"/>
      </dsp:txXfrm>
    </dsp:sp>
    <dsp:sp modelId="{F4F8C344-7D1C-46C6-9A11-848875416EFF}">
      <dsp:nvSpPr>
        <dsp:cNvPr id="0" name=""/>
        <dsp:cNvSpPr/>
      </dsp:nvSpPr>
      <dsp:spPr>
        <a:xfrm>
          <a:off x="153259" y="563545"/>
          <a:ext cx="1553786" cy="79811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01</a:t>
          </a:r>
          <a:endParaRPr lang="en-US" sz="3300" kern="1200" dirty="0"/>
        </a:p>
      </dsp:txBody>
      <dsp:txXfrm>
        <a:off x="153259" y="563545"/>
        <a:ext cx="1553786" cy="798117"/>
      </dsp:txXfrm>
    </dsp:sp>
    <dsp:sp modelId="{EB963515-5808-4C80-9984-917F35489400}">
      <dsp:nvSpPr>
        <dsp:cNvPr id="0" name=""/>
        <dsp:cNvSpPr/>
      </dsp:nvSpPr>
      <dsp:spPr>
        <a:xfrm>
          <a:off x="2008951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Global Plastic Production up ~280%  in past 3 decades</a:t>
          </a:r>
        </a:p>
      </dsp:txBody>
      <dsp:txXfrm>
        <a:off x="2008951" y="1409004"/>
        <a:ext cx="1859998" cy="1339198"/>
      </dsp:txXfrm>
    </dsp:sp>
    <dsp:sp modelId="{16DBDCD5-A41E-4007-B577-9C0948C6F632}">
      <dsp:nvSpPr>
        <dsp:cNvPr id="0" name=""/>
        <dsp:cNvSpPr/>
      </dsp:nvSpPr>
      <dsp:spPr>
        <a:xfrm>
          <a:off x="2008951" y="516205"/>
          <a:ext cx="1859998" cy="8927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02</a:t>
          </a:r>
          <a:endParaRPr lang="en-US" sz="3300" kern="1200" dirty="0"/>
        </a:p>
      </dsp:txBody>
      <dsp:txXfrm>
        <a:off x="2008951" y="516205"/>
        <a:ext cx="1859998" cy="892799"/>
      </dsp:txXfrm>
    </dsp:sp>
    <dsp:sp modelId="{EE6BD008-579C-48F1-9121-632E6C8D276C}">
      <dsp:nvSpPr>
        <dsp:cNvPr id="0" name=""/>
        <dsp:cNvSpPr/>
      </dsp:nvSpPr>
      <dsp:spPr>
        <a:xfrm>
          <a:off x="4017749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Global Energy Demand continues to increase as well</a:t>
          </a:r>
        </a:p>
      </dsp:txBody>
      <dsp:txXfrm>
        <a:off x="4017749" y="1409004"/>
        <a:ext cx="1859998" cy="1339198"/>
      </dsp:txXfrm>
    </dsp:sp>
    <dsp:sp modelId="{5BE155CE-2C5B-4387-98F5-DC9FCCBE531E}">
      <dsp:nvSpPr>
        <dsp:cNvPr id="0" name=""/>
        <dsp:cNvSpPr/>
      </dsp:nvSpPr>
      <dsp:spPr>
        <a:xfrm>
          <a:off x="4017749" y="516205"/>
          <a:ext cx="1859998" cy="8927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03</a:t>
          </a:r>
        </a:p>
      </dsp:txBody>
      <dsp:txXfrm>
        <a:off x="4017749" y="516205"/>
        <a:ext cx="1859998" cy="892799"/>
      </dsp:txXfrm>
    </dsp:sp>
    <dsp:sp modelId="{746AD9D3-4BBD-4A07-B2DE-C17A1CAFF3C6}">
      <dsp:nvSpPr>
        <dsp:cNvPr id="0" name=""/>
        <dsp:cNvSpPr/>
      </dsp:nvSpPr>
      <dsp:spPr>
        <a:xfrm>
          <a:off x="6026547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Energy derived from Fossil Fuels leads to Global Warming</a:t>
          </a:r>
          <a:endParaRPr lang="en-US" sz="1700" kern="1200" dirty="0"/>
        </a:p>
      </dsp:txBody>
      <dsp:txXfrm>
        <a:off x="6026547" y="1409004"/>
        <a:ext cx="1859998" cy="1339198"/>
      </dsp:txXfrm>
    </dsp:sp>
    <dsp:sp modelId="{9998EA42-EABD-4F37-94D7-835AA2D9D8C0}">
      <dsp:nvSpPr>
        <dsp:cNvPr id="0" name=""/>
        <dsp:cNvSpPr/>
      </dsp:nvSpPr>
      <dsp:spPr>
        <a:xfrm>
          <a:off x="6026547" y="516205"/>
          <a:ext cx="1859998" cy="8927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04</a:t>
          </a:r>
        </a:p>
      </dsp:txBody>
      <dsp:txXfrm>
        <a:off x="6026547" y="516205"/>
        <a:ext cx="1859998" cy="8927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0991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80958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556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4886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05982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37284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93482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270698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6164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846561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451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57669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4776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9823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2.xml"/><Relationship Id="rId1" Type="http://schemas.openxmlformats.org/officeDocument/2006/relationships/video" Target="https://www.youtube.com/embed/I4QNolP7Khc?feature=oembed" TargetMode="External"/><Relationship Id="rId6" Type="http://schemas.openxmlformats.org/officeDocument/2006/relationships/image" Target="../media/image3.jpeg"/><Relationship Id="rId5" Type="http://schemas.openxmlformats.org/officeDocument/2006/relationships/hyperlink" Target="https://www.youtube.com/watch?v=I4QNolP7Khc" TargetMode="Externa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jp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urworldindata.org/grapher/global-plastics-production?utm_source=chatgpt.com" TargetMode="External"/><Relationship Id="rId3" Type="http://schemas.openxmlformats.org/officeDocument/2006/relationships/image" Target="../media/image6.jpg"/><Relationship Id="rId7" Type="http://schemas.openxmlformats.org/officeDocument/2006/relationships/hyperlink" Target="https://ourworldindata.org/grapher/global-plastics-producti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owid/co2-data?utm_source=chatgpt.com" TargetMode="External"/><Relationship Id="rId5" Type="http://schemas.openxmlformats.org/officeDocument/2006/relationships/hyperlink" Target="https://raw.githubusercontent.com/owid/co2-data/master/owid-co2-data.csv" TargetMode="External"/><Relationship Id="rId4" Type="http://schemas.openxmlformats.org/officeDocument/2006/relationships/hyperlink" Target="https://ourworldindata.org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gawandesailee-lab/learndsp/blob/main/Data%20Science%20Capstone%202%20Project/reports/Data%20Science%20Capstone%202%20Project%20Report.pdf" TargetMode="External"/><Relationship Id="rId5" Type="http://schemas.openxmlformats.org/officeDocument/2006/relationships/hyperlink" Target="http://www.linkedin.com/in/saileegawande" TargetMode="External"/><Relationship Id="rId4" Type="http://schemas.openxmlformats.org/officeDocument/2006/relationships/hyperlink" Target="mailto:gawandesailee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alphaModFix amt="4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5484EF-5C7C-D4D3-7A82-89DF920BF81D}"/>
              </a:ext>
            </a:extLst>
          </p:cNvPr>
          <p:cNvSpPr txBox="1"/>
          <p:nvPr/>
        </p:nvSpPr>
        <p:spPr>
          <a:xfrm>
            <a:off x="175364" y="187890"/>
            <a:ext cx="717741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Understanding the Impact of Economic, Demographic, Energy Factors &amp; Plastics on Global Warming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467C36-28DC-691C-75A9-12823D9EF956}"/>
              </a:ext>
            </a:extLst>
          </p:cNvPr>
          <p:cNvSpPr txBox="1"/>
          <p:nvPr/>
        </p:nvSpPr>
        <p:spPr>
          <a:xfrm>
            <a:off x="175364" y="2034549"/>
            <a:ext cx="38000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Springboard Capstone II Project Report</a:t>
            </a: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Sailee Gawande</a:t>
            </a: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5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DCD4CC06-BB72-EB39-018A-D3475EA39E13}"/>
              </a:ext>
            </a:extLst>
          </p:cNvPr>
          <p:cNvSpPr txBox="1"/>
          <p:nvPr/>
        </p:nvSpPr>
        <p:spPr>
          <a:xfrm>
            <a:off x="3155586" y="98419"/>
            <a:ext cx="2832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Plastic Pollution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4DA7C4-CC65-87E3-3004-2D54382B9E88}"/>
              </a:ext>
            </a:extLst>
          </p:cNvPr>
          <p:cNvSpPr txBox="1"/>
          <p:nvPr/>
        </p:nvSpPr>
        <p:spPr>
          <a:xfrm>
            <a:off x="2126554" y="2016690"/>
            <a:ext cx="4890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5"/>
              </a:rPr>
              <a:t>https://www.youtube.com/watch?v=I4QNolP7Khc</a:t>
            </a:r>
            <a:endParaRPr lang="en-US" dirty="0"/>
          </a:p>
        </p:txBody>
      </p:sp>
      <p:pic>
        <p:nvPicPr>
          <p:cNvPr id="28" name="Online Media 27" title="Albatrosses are ingesting plastic - Blue Planet II: Episode 7 Preview - BBC">
            <a:hlinkClick r:id="" action="ppaction://media"/>
            <a:extLst>
              <a:ext uri="{FF2B5EF4-FFF2-40B4-BE49-F238E27FC236}">
                <a16:creationId xmlns:a16="http://schemas.microsoft.com/office/drawing/2014/main" id="{52B3D5B2-9E58-E58D-E9FE-3ECB5CCBED5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6"/>
          <a:stretch>
            <a:fillRect/>
          </a:stretch>
        </p:blipFill>
        <p:spPr>
          <a:xfrm>
            <a:off x="19050" y="0"/>
            <a:ext cx="9104313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732F4-152F-BE1B-95F5-AAD52A3D1473}"/>
              </a:ext>
            </a:extLst>
          </p:cNvPr>
          <p:cNvSpPr txBox="1"/>
          <p:nvPr/>
        </p:nvSpPr>
        <p:spPr>
          <a:xfrm>
            <a:off x="628650" y="417891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This continues to be a problem because…..</a:t>
            </a:r>
          </a:p>
        </p:txBody>
      </p:sp>
      <p:graphicFrame>
        <p:nvGraphicFramePr>
          <p:cNvPr id="12" name="TextBox 9">
            <a:extLst>
              <a:ext uri="{FF2B5EF4-FFF2-40B4-BE49-F238E27FC236}">
                <a16:creationId xmlns:a16="http://schemas.microsoft.com/office/drawing/2014/main" id="{209F547C-AE76-DB71-DB51-10B927A205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7912733"/>
              </p:ext>
            </p:extLst>
          </p:nvPr>
        </p:nvGraphicFramePr>
        <p:xfrm>
          <a:off x="628650" y="1371600"/>
          <a:ext cx="788670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22A33E-7CAB-C959-F84D-4FFB51584EA4}"/>
              </a:ext>
            </a:extLst>
          </p:cNvPr>
          <p:cNvSpPr txBox="1"/>
          <p:nvPr/>
        </p:nvSpPr>
        <p:spPr>
          <a:xfrm>
            <a:off x="2914206" y="263047"/>
            <a:ext cx="33155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Problem Statement</a:t>
            </a:r>
            <a:endParaRPr lang="en-US" sz="32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DC90830-0315-0FF4-4DF0-78131DA669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01" t="10217" r="4347" b="6990"/>
          <a:stretch>
            <a:fillRect/>
          </a:stretch>
        </p:blipFill>
        <p:spPr>
          <a:xfrm>
            <a:off x="0" y="1567"/>
            <a:ext cx="9144000" cy="51419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9A8F40E-7655-3C86-1EB2-3272E7BE0289}"/>
              </a:ext>
            </a:extLst>
          </p:cNvPr>
          <p:cNvSpPr txBox="1"/>
          <p:nvPr/>
        </p:nvSpPr>
        <p:spPr>
          <a:xfrm>
            <a:off x="2914206" y="133524"/>
            <a:ext cx="33155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2060"/>
                </a:solidFill>
                <a:latin typeface="+mj-lt"/>
              </a:rPr>
              <a:t>Problem Statement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0ECCEA7-F83B-8A58-0C7E-9E107984B1BE}"/>
              </a:ext>
            </a:extLst>
          </p:cNvPr>
          <p:cNvSpPr txBox="1"/>
          <p:nvPr/>
        </p:nvSpPr>
        <p:spPr>
          <a:xfrm>
            <a:off x="628650" y="417891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Analysis Objectives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3ED43F-4C26-669D-2299-5602A6922B83}"/>
              </a:ext>
            </a:extLst>
          </p:cNvPr>
          <p:cNvSpPr txBox="1"/>
          <p:nvPr/>
        </p:nvSpPr>
        <p:spPr>
          <a:xfrm>
            <a:off x="925975" y="1648420"/>
            <a:ext cx="72920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Identify Key Drivers of CO2 Emissions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Compare Total CO2 Emissions Vs. CO2 Per Capita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Contextualize Findings within Rising Plastics Production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Develop Predictive Machine Learning Models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2D38F8E-36C6-0359-2290-F6B0A17EE35A}"/>
              </a:ext>
            </a:extLst>
          </p:cNvPr>
          <p:cNvSpPr txBox="1"/>
          <p:nvPr/>
        </p:nvSpPr>
        <p:spPr>
          <a:xfrm>
            <a:off x="628650" y="417891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Datasets Used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5C8E1A-A106-310D-2DCF-AD3714B1A13F}"/>
              </a:ext>
            </a:extLst>
          </p:cNvPr>
          <p:cNvSpPr txBox="1"/>
          <p:nvPr/>
        </p:nvSpPr>
        <p:spPr>
          <a:xfrm>
            <a:off x="925975" y="1268015"/>
            <a:ext cx="729204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The data was acquired from </a:t>
            </a:r>
            <a:r>
              <a:rPr lang="en-US" u="sng" dirty="0">
                <a:hlinkClick r:id="rId4"/>
              </a:rPr>
              <a:t>https://ourworldindata.org/</a:t>
            </a:r>
            <a:r>
              <a:rPr lang="en-US" dirty="0"/>
              <a:t> </a:t>
            </a:r>
            <a:endParaRPr lang="en-US" sz="2400" dirty="0"/>
          </a:p>
          <a:p>
            <a:endParaRPr lang="en-US" sz="2400" dirty="0"/>
          </a:p>
          <a:p>
            <a:r>
              <a:rPr lang="en-US" sz="2000" b="1" u="sng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1. Carbon Emissions Data (Country Year Level)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u="sng" dirty="0">
                <a:hlinkClick r:id="rId5"/>
              </a:rPr>
              <a:t>https://raw.githubusercontent.com/owid/co2-data/master/owid-co2-data.csv</a:t>
            </a:r>
            <a:endParaRPr lang="en-US" sz="2400" dirty="0"/>
          </a:p>
          <a:p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Citation : Our World in Data. </a:t>
            </a:r>
            <a:r>
              <a:rPr lang="en-US" sz="1200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CO₂ and Greenhouse Gas Emissions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[dataset]. Data adapted from the Global Carbon Project. Retrieved from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200" u="sng" dirty="0">
                <a:solidFill>
                  <a:srgbClr val="0563C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https://github.com/owid/co2-data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(accessed 2026).</a:t>
            </a:r>
          </a:p>
          <a:p>
            <a:endParaRPr lang="en-US" sz="2400" dirty="0"/>
          </a:p>
          <a:p>
            <a:r>
              <a:rPr lang="en-US" sz="2000" b="1" u="sng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2. Global Plastics Production Data (Global Year Level)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u="sng" dirty="0">
                <a:hlinkClick r:id="rId7"/>
              </a:rPr>
              <a:t>https://ourworldindata.org/grapher/global-plastics-production</a:t>
            </a:r>
            <a:endParaRPr lang="en-US" sz="2400" dirty="0"/>
          </a:p>
          <a:p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Citation :Geyer, R., </a:t>
            </a:r>
            <a:r>
              <a:rPr lang="en-US" sz="1200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Jambeck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, J., and Law, K. (2017) – with processing by Our World in Data. </a:t>
            </a:r>
            <a:r>
              <a:rPr lang="en-US" sz="1200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Global plastics production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[dataset]. Retrieved from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200" u="sng" dirty="0">
                <a:solidFill>
                  <a:srgbClr val="0563C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https://ourworldindata.org/grapher/global-plastics-production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(accessed 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8641F8B-F7DF-5248-5387-2E17794FFF68}"/>
              </a:ext>
            </a:extLst>
          </p:cNvPr>
          <p:cNvSpPr txBox="1"/>
          <p:nvPr/>
        </p:nvSpPr>
        <p:spPr>
          <a:xfrm>
            <a:off x="628650" y="249447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Data Wrangling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64DE62-577B-6862-5193-E3EFEFFCB025}"/>
              </a:ext>
            </a:extLst>
          </p:cNvPr>
          <p:cNvSpPr txBox="1"/>
          <p:nvPr/>
        </p:nvSpPr>
        <p:spPr>
          <a:xfrm>
            <a:off x="991101" y="1043375"/>
            <a:ext cx="716179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Key Steps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Reduced CO2 Dataset from 79 to 10 relevant columns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Removed non-country entries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Filtered both Plastics and CO2 Datasets for 1990-2019 Timeframe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Handled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Created merged Global CO2 + Plastics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Standardized Units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Final Datasets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CO2 Master Country Year Level Dataset for Modeling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Global CO2 + Plastics Dataset for Trends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E2FA55-0626-0BEC-D92E-396589C22BC6}"/>
              </a:ext>
            </a:extLst>
          </p:cNvPr>
          <p:cNvSpPr txBox="1"/>
          <p:nvPr/>
        </p:nvSpPr>
        <p:spPr>
          <a:xfrm>
            <a:off x="628650" y="52244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Global Trends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67BA3A-95C2-EF82-4795-902EF384D29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6000"/>
          </a:blip>
          <a:stretch>
            <a:fillRect/>
          </a:stretch>
        </p:blipFill>
        <p:spPr>
          <a:xfrm>
            <a:off x="0" y="902367"/>
            <a:ext cx="9144000" cy="424113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EBE703B-683D-6E8A-9A37-DF92D1D4F9E5}"/>
              </a:ext>
            </a:extLst>
          </p:cNvPr>
          <p:cNvSpPr/>
          <p:nvPr/>
        </p:nvSpPr>
        <p:spPr>
          <a:xfrm>
            <a:off x="2334125" y="2935705"/>
            <a:ext cx="4535907" cy="2207794"/>
          </a:xfrm>
          <a:prstGeom prst="rect">
            <a:avLst/>
          </a:prstGeom>
          <a:solidFill>
            <a:schemeClr val="accent2">
              <a:lumMod val="60000"/>
              <a:lumOff val="40000"/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C17A671A-C309-D592-0D02-037F746E38BE}"/>
              </a:ext>
            </a:extLst>
          </p:cNvPr>
          <p:cNvSpPr txBox="1"/>
          <p:nvPr/>
        </p:nvSpPr>
        <p:spPr>
          <a:xfrm>
            <a:off x="628650" y="297575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Exploratory Data Analysis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47A907-A404-946A-742C-18BD44A4E554}"/>
              </a:ext>
            </a:extLst>
          </p:cNvPr>
          <p:cNvSpPr txBox="1"/>
          <p:nvPr/>
        </p:nvSpPr>
        <p:spPr>
          <a:xfrm>
            <a:off x="991100" y="1140911"/>
            <a:ext cx="73949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Key Insights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per capita is strongly correlated with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Higher GDP → Higher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Higher Population Size → Higher Total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Developed countries show signs of decoupling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Important Observation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Emissions stabilized for some developed countries despite economic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6F0B58-3A8A-12E8-8A2A-0E67234FD54B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Feature Engineering &amp; Preprocessing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6892D-8887-FFB2-B1CE-02F08DBFCAEB}"/>
              </a:ext>
            </a:extLst>
          </p:cNvPr>
          <p:cNvSpPr txBox="1"/>
          <p:nvPr/>
        </p:nvSpPr>
        <p:spPr>
          <a:xfrm>
            <a:off x="991100" y="1299407"/>
            <a:ext cx="7394911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Key Steps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Log Transformation of Skewed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PCA Transformation of Features for Multicollinearity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Standardization of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Time aware Train/Test Splits for 2 Modeling Approaches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Total CO2 Emissions as Target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CO2 per Capita as Target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         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D179537F-8E8F-9CCA-E149-4FED89729137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Modeling </a:t>
            </a: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Strategy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A035A6-A163-14E1-2E63-39F296409591}"/>
              </a:ext>
            </a:extLst>
          </p:cNvPr>
          <p:cNvSpPr txBox="1"/>
          <p:nvPr/>
        </p:nvSpPr>
        <p:spPr>
          <a:xfrm>
            <a:off x="991100" y="1239247"/>
            <a:ext cx="7394911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Modeling Approaches</a:t>
            </a: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Models Used : </a:t>
            </a: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Ordinary Least Squares with country fixed effects (Scaled &amp; Unscaled), Scaled Ridge Regression , Random Forest Model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Evaluation Metrics : </a:t>
            </a: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R², RMSE, MAE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E7A4F03-CF3E-3046-F631-1E3A73F20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139129"/>
              </p:ext>
            </p:extLst>
          </p:nvPr>
        </p:nvGraphicFramePr>
        <p:xfrm>
          <a:off x="1077597" y="1794438"/>
          <a:ext cx="7886700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8258">
                  <a:extLst>
                    <a:ext uri="{9D8B030D-6E8A-4147-A177-3AD203B41FA5}">
                      <a16:colId xmlns:a16="http://schemas.microsoft.com/office/drawing/2014/main" val="1323877882"/>
                    </a:ext>
                  </a:extLst>
                </a:gridCol>
                <a:gridCol w="2169481">
                  <a:extLst>
                    <a:ext uri="{9D8B030D-6E8A-4147-A177-3AD203B41FA5}">
                      <a16:colId xmlns:a16="http://schemas.microsoft.com/office/drawing/2014/main" val="1928879640"/>
                    </a:ext>
                  </a:extLst>
                </a:gridCol>
                <a:gridCol w="4338961">
                  <a:extLst>
                    <a:ext uri="{9D8B030D-6E8A-4147-A177-3AD203B41FA5}">
                      <a16:colId xmlns:a16="http://schemas.microsoft.com/office/drawing/2014/main" val="2478598558"/>
                    </a:ext>
                  </a:extLst>
                </a:gridCol>
              </a:tblGrid>
              <a:tr h="332002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Target Variable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802403"/>
                  </a:ext>
                </a:extLst>
              </a:tr>
              <a:tr h="468276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sz="1800" baseline="30000" dirty="0">
                          <a:solidFill>
                            <a:schemeClr val="tx1"/>
                          </a:solidFill>
                        </a:rPr>
                        <a:t>st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Strategy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log_co2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log_energy_per_capita, log_gdp_per_capita, log_population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85068"/>
                  </a:ext>
                </a:extLst>
              </a:tr>
              <a:tr h="336613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en-US" sz="1800" baseline="30000" dirty="0">
                          <a:solidFill>
                            <a:schemeClr val="tx1"/>
                          </a:solidFill>
                        </a:rPr>
                        <a:t>nd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Strategy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log_co2_per_capita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log_energy_per_capita, log_gdp_per_capita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7116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9141771-2661-54DA-4427-73C585FF7C78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Model Performance Summary &amp; Selection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1E6302E-84FB-10DC-841A-4D272AE3D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" y="1225717"/>
            <a:ext cx="8753475" cy="34861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A66149-E133-6B08-39B6-37E4EAFFBD76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Feature Importance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CF3FE1-CD34-44C9-9B97-E6A75BAC8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6805" y="1407706"/>
            <a:ext cx="3279405" cy="37057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7861F6-9FCF-9C2F-1601-B325097BC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786" y="1407706"/>
            <a:ext cx="3508214" cy="37057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742E71-3719-E516-9571-FAEB3C955F06}"/>
              </a:ext>
            </a:extLst>
          </p:cNvPr>
          <p:cNvSpPr txBox="1"/>
          <p:nvPr/>
        </p:nvSpPr>
        <p:spPr>
          <a:xfrm>
            <a:off x="1063786" y="1071321"/>
            <a:ext cx="35863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With Population Signal for Total CO2 Emissions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B99428-96B2-23D0-2E73-EB44A56D4325}"/>
              </a:ext>
            </a:extLst>
          </p:cNvPr>
          <p:cNvSpPr txBox="1"/>
          <p:nvPr/>
        </p:nvSpPr>
        <p:spPr>
          <a:xfrm>
            <a:off x="4638057" y="1071321"/>
            <a:ext cx="33666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Without Population Signal for CO2 per Capita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CCDD8C-7D35-F08C-1E64-562FA1A08B8C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Plastics Connection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063978-CCE0-9204-7402-D02B26222C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5" y="1135667"/>
            <a:ext cx="4861373" cy="35930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5DA778-3229-9A4A-AE90-90A6F43CF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978" y="1135668"/>
            <a:ext cx="3817215" cy="359307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884D9D-3811-70AB-5932-7BFC7A9CAE75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Key Findings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4510A-3438-2042-9423-FE8829B45D01}"/>
              </a:ext>
            </a:extLst>
          </p:cNvPr>
          <p:cNvSpPr txBox="1"/>
          <p:nvPr/>
        </p:nvSpPr>
        <p:spPr>
          <a:xfrm>
            <a:off x="991100" y="1299407"/>
            <a:ext cx="78867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Population Size drives Total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Demand drives CO2 Emissions Intensity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GDP drives CO2 Emissions indirectly via Energy Demand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Decoupling of Emissions with Economic Growth exists but not always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Plastic Intensive Supply Chains increase environmental pressure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         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FB8459-82A0-75F5-FF7A-279D1463CC1A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Actionable Recommendations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D8562F-7D55-7DD0-5231-DE538F37E1E1}"/>
              </a:ext>
            </a:extLst>
          </p:cNvPr>
          <p:cNvSpPr txBox="1"/>
          <p:nvPr/>
        </p:nvSpPr>
        <p:spPr>
          <a:xfrm>
            <a:off x="991100" y="1299407"/>
            <a:ext cx="78867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Track both CO2 per capita and CO2 Emissions for all major energy intensive industries &amp; processes within a country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Invest in energy efficient technologies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Incentivize green/renewable energy sources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Invest in recycling and improving Supply Chain sustainability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Reduce dependence on plastics by investing in greener alternatives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CEBA1D-590A-BE12-5F46-240429BD54B6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Future Work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CCD3DF-1D18-B67B-60AB-A7E0A57C00B8}"/>
              </a:ext>
            </a:extLst>
          </p:cNvPr>
          <p:cNvSpPr txBox="1"/>
          <p:nvPr/>
        </p:nvSpPr>
        <p:spPr>
          <a:xfrm>
            <a:off x="991100" y="1299407"/>
            <a:ext cx="78867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Add country/year level plastics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Add renewable energy indicators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Explore panel regression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Build forecasting dashboard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9FABF0-3A40-2622-3969-CD090982431C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6F26F-1047-1AA2-1FB4-42DA32DBB7D7}"/>
              </a:ext>
            </a:extLst>
          </p:cNvPr>
          <p:cNvSpPr txBox="1"/>
          <p:nvPr/>
        </p:nvSpPr>
        <p:spPr>
          <a:xfrm>
            <a:off x="991100" y="1299407"/>
            <a:ext cx="7886700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consumption behavior has the highest environmental impact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Efficiency gains offset by scale of growth, energy demand, population and rapidly increasing plastic supply chains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Final Insight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Global Warming mitigation will not just require cleaner energy systems but also reducing material intensity for global supply chains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E21B7-D792-39FD-D42C-2ACBB3F54A08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7F58D-7FDD-8450-B274-F500B0C7567E}"/>
              </a:ext>
            </a:extLst>
          </p:cNvPr>
          <p:cNvSpPr txBox="1"/>
          <p:nvPr/>
        </p:nvSpPr>
        <p:spPr>
          <a:xfrm>
            <a:off x="991100" y="1299407"/>
            <a:ext cx="78867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Questions?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Contact Information : </a:t>
            </a: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hlinkClick r:id="rId4"/>
              </a:rPr>
              <a:t>gawandesailee@gmail.com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LinkedIn : </a:t>
            </a: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hlinkClick r:id="rId5"/>
              </a:rPr>
              <a:t>www.linkedin.com/in/saileegawande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GitHub Repository : </a:t>
            </a: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hlinkClick r:id="rId6"/>
              </a:rPr>
              <a:t>https://github.com/gawandesailee-lab/learndsp/blob/main/Data%20Science%20Capstone%202%20Project/reports/Data%20Science%20Capstone%202%20Project%20Report.pdf</a:t>
            </a: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4260</TotalTime>
  <Words>759</Words>
  <Application>Microsoft Office PowerPoint</Application>
  <PresentationFormat>On-screen Show (16:9)</PresentationFormat>
  <Paragraphs>149</Paragraphs>
  <Slides>19</Slides>
  <Notes>19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Sailee Gawande</dc:creator>
  <cp:lastModifiedBy>Sailee Gawande</cp:lastModifiedBy>
  <cp:revision>9</cp:revision>
  <dcterms:created xsi:type="dcterms:W3CDTF">2026-05-07T01:28:22Z</dcterms:created>
  <dcterms:modified xsi:type="dcterms:W3CDTF">2026-05-10T00:29:07Z</dcterms:modified>
</cp:coreProperties>
</file>