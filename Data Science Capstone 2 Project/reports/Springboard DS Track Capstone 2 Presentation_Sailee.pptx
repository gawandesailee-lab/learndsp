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1"/>
  </p:notesMasterIdLst>
  <p:handoutMasterIdLst>
    <p:handoutMasterId r:id="rId22"/>
  </p:handoutMasterIdLst>
  <p:sldIdLst>
    <p:sldId id="270" r:id="rId2"/>
    <p:sldId id="257"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D2E6"/>
    <a:srgbClr val="F6B154"/>
    <a:srgbClr val="C7DE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63035" autoAdjust="0"/>
  </p:normalViewPr>
  <p:slideViewPr>
    <p:cSldViewPr snapToGrid="0">
      <p:cViewPr varScale="1">
        <p:scale>
          <a:sx n="91" d="100"/>
          <a:sy n="91" d="100"/>
        </p:scale>
        <p:origin x="810" y="78"/>
      </p:cViewPr>
      <p:guideLst/>
    </p:cSldViewPr>
  </p:slideViewPr>
  <p:notesTextViewPr>
    <p:cViewPr>
      <p:scale>
        <a:sx n="1" d="1"/>
        <a:sy n="1" d="1"/>
      </p:scale>
      <p:origin x="0" y="0"/>
    </p:cViewPr>
  </p:notesTextViewPr>
  <p:notesViewPr>
    <p:cSldViewPr snapToGrid="0">
      <p:cViewPr>
        <p:scale>
          <a:sx n="88" d="100"/>
          <a:sy n="88" d="100"/>
        </p:scale>
        <p:origin x="144" y="-10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10B2D4-94D5-4A49-8947-D64419592F41}" type="doc">
      <dgm:prSet loTypeId="urn:microsoft.com/office/officeart/2016/7/layout/LinearBlockProcessNumbered" loCatId="process" qsTypeId="urn:microsoft.com/office/officeart/2005/8/quickstyle/simple1" qsCatId="simple" csTypeId="urn:microsoft.com/office/officeart/2005/8/colors/accent0_3" csCatId="mainScheme" phldr="1"/>
      <dgm:spPr/>
      <dgm:t>
        <a:bodyPr/>
        <a:lstStyle/>
        <a:p>
          <a:endParaRPr lang="en-US"/>
        </a:p>
      </dgm:t>
    </dgm:pt>
    <dgm:pt modelId="{3A67C8EA-F28F-4A51-84C6-98D3DA7B99BE}">
      <dgm:prSet/>
      <dgm:spPr>
        <a:ln>
          <a:noFill/>
        </a:ln>
      </dgm:spPr>
      <dgm:t>
        <a:bodyPr/>
        <a:lstStyle/>
        <a:p>
          <a:r>
            <a:rPr lang="en-US" dirty="0"/>
            <a:t>Global CO2 Emissions are up 60% in past 3 decades)</a:t>
          </a:r>
        </a:p>
      </dgm:t>
    </dgm:pt>
    <dgm:pt modelId="{3AA4B216-DD04-44DC-9149-B6F059C9BCAF}" type="parTrans" cxnId="{EF965EBC-B595-4145-B44A-690DAF7906EF}">
      <dgm:prSet/>
      <dgm:spPr/>
      <dgm:t>
        <a:bodyPr/>
        <a:lstStyle/>
        <a:p>
          <a:endParaRPr lang="en-US"/>
        </a:p>
      </dgm:t>
    </dgm:pt>
    <dgm:pt modelId="{BFEA4191-828C-4195-A445-5236408F0106}" type="sibTrans" cxnId="{EF965EBC-B595-4145-B44A-690DAF7906EF}">
      <dgm:prSet phldrT="01" phldr="0"/>
      <dgm:spPr/>
      <dgm:t>
        <a:bodyPr/>
        <a:lstStyle/>
        <a:p>
          <a:r>
            <a:rPr lang="en-US"/>
            <a:t>01</a:t>
          </a:r>
          <a:endParaRPr lang="en-US" dirty="0"/>
        </a:p>
      </dgm:t>
    </dgm:pt>
    <dgm:pt modelId="{EFC392B3-E498-44C8-BE59-FFFF67520500}">
      <dgm:prSet/>
      <dgm:spPr>
        <a:ln>
          <a:noFill/>
        </a:ln>
      </dgm:spPr>
      <dgm:t>
        <a:bodyPr/>
        <a:lstStyle/>
        <a:p>
          <a:r>
            <a:rPr lang="en-US" dirty="0"/>
            <a:t>Global Plastic Production up ~280%  in past 3 decades</a:t>
          </a:r>
        </a:p>
      </dgm:t>
    </dgm:pt>
    <dgm:pt modelId="{C8E058BB-1001-47EF-AB62-2D70066D1C71}" type="parTrans" cxnId="{9F9F954B-582A-42A3-A1BD-CE54F06CC225}">
      <dgm:prSet/>
      <dgm:spPr/>
      <dgm:t>
        <a:bodyPr/>
        <a:lstStyle/>
        <a:p>
          <a:endParaRPr lang="en-US"/>
        </a:p>
      </dgm:t>
    </dgm:pt>
    <dgm:pt modelId="{02025070-A3F4-4523-B778-C49C9ADB5A23}" type="sibTrans" cxnId="{9F9F954B-582A-42A3-A1BD-CE54F06CC225}">
      <dgm:prSet phldrT="02" phldr="0"/>
      <dgm:spPr/>
      <dgm:t>
        <a:bodyPr/>
        <a:lstStyle/>
        <a:p>
          <a:r>
            <a:rPr lang="en-US"/>
            <a:t>02</a:t>
          </a:r>
          <a:endParaRPr lang="en-US" dirty="0"/>
        </a:p>
      </dgm:t>
    </dgm:pt>
    <dgm:pt modelId="{6BDEDADA-4CA3-4419-BD66-C1B02B823D85}">
      <dgm:prSet/>
      <dgm:spPr>
        <a:ln>
          <a:noFill/>
        </a:ln>
      </dgm:spPr>
      <dgm:t>
        <a:bodyPr/>
        <a:lstStyle/>
        <a:p>
          <a:r>
            <a:rPr lang="en-US"/>
            <a:t>Global Energy Demand continues to increase as well</a:t>
          </a:r>
        </a:p>
      </dgm:t>
    </dgm:pt>
    <dgm:pt modelId="{11944278-4371-4025-B5B0-DA6F7CF97365}" type="parTrans" cxnId="{739AD822-65E9-4325-BBCE-117B1C90B5A1}">
      <dgm:prSet/>
      <dgm:spPr/>
      <dgm:t>
        <a:bodyPr/>
        <a:lstStyle/>
        <a:p>
          <a:endParaRPr lang="en-US"/>
        </a:p>
      </dgm:t>
    </dgm:pt>
    <dgm:pt modelId="{1F10036E-19BC-4568-9127-82DD69BE930A}" type="sibTrans" cxnId="{739AD822-65E9-4325-BBCE-117B1C90B5A1}">
      <dgm:prSet phldrT="03" phldr="0"/>
      <dgm:spPr/>
      <dgm:t>
        <a:bodyPr/>
        <a:lstStyle/>
        <a:p>
          <a:r>
            <a:rPr lang="en-US"/>
            <a:t>03</a:t>
          </a:r>
        </a:p>
      </dgm:t>
    </dgm:pt>
    <dgm:pt modelId="{DCF71FC9-EDCE-48AA-B851-7F6E236FE3EE}">
      <dgm:prSet/>
      <dgm:spPr>
        <a:ln>
          <a:noFill/>
        </a:ln>
      </dgm:spPr>
      <dgm:t>
        <a:bodyPr/>
        <a:lstStyle/>
        <a:p>
          <a:r>
            <a:rPr lang="en-US"/>
            <a:t>Energy derived from Fossil Fuels leads to Global Warming</a:t>
          </a:r>
          <a:endParaRPr lang="en-US" dirty="0"/>
        </a:p>
      </dgm:t>
    </dgm:pt>
    <dgm:pt modelId="{BADC1747-5AA3-4A22-9A05-77ED8CEDE416}" type="parTrans" cxnId="{0766AFD6-2985-48DC-8A63-7C27FF37F3A3}">
      <dgm:prSet/>
      <dgm:spPr/>
      <dgm:t>
        <a:bodyPr/>
        <a:lstStyle/>
        <a:p>
          <a:endParaRPr lang="en-US"/>
        </a:p>
      </dgm:t>
    </dgm:pt>
    <dgm:pt modelId="{EA0F9647-3CB6-48DE-AB67-E1EF93FA1B56}" type="sibTrans" cxnId="{0766AFD6-2985-48DC-8A63-7C27FF37F3A3}">
      <dgm:prSet phldrT="04" phldr="0"/>
      <dgm:spPr/>
      <dgm:t>
        <a:bodyPr/>
        <a:lstStyle/>
        <a:p>
          <a:r>
            <a:rPr lang="en-US"/>
            <a:t>04</a:t>
          </a:r>
        </a:p>
      </dgm:t>
    </dgm:pt>
    <dgm:pt modelId="{83798360-FF76-4144-87A5-34818C8C999A}" type="pres">
      <dgm:prSet presAssocID="{4410B2D4-94D5-4A49-8947-D64419592F41}" presName="Name0" presStyleCnt="0">
        <dgm:presLayoutVars>
          <dgm:animLvl val="lvl"/>
          <dgm:resizeHandles val="exact"/>
        </dgm:presLayoutVars>
      </dgm:prSet>
      <dgm:spPr/>
    </dgm:pt>
    <dgm:pt modelId="{B6264E89-5E7F-433A-A11C-16D6FAA22978}" type="pres">
      <dgm:prSet presAssocID="{3A67C8EA-F28F-4A51-84C6-98D3DA7B99BE}" presName="compositeNode" presStyleCnt="0">
        <dgm:presLayoutVars>
          <dgm:bulletEnabled val="1"/>
        </dgm:presLayoutVars>
      </dgm:prSet>
      <dgm:spPr/>
    </dgm:pt>
    <dgm:pt modelId="{69DF403A-4D2E-48A3-A9D1-9ECD7FD86DBF}" type="pres">
      <dgm:prSet presAssocID="{3A67C8EA-F28F-4A51-84C6-98D3DA7B99BE}" presName="bgRect" presStyleLbl="alignNode1" presStyleIdx="0" presStyleCnt="4"/>
      <dgm:spPr/>
    </dgm:pt>
    <dgm:pt modelId="{F4F8C344-7D1C-46C6-9A11-848875416EFF}" type="pres">
      <dgm:prSet presAssocID="{BFEA4191-828C-4195-A445-5236408F0106}" presName="sibTransNodeRect" presStyleLbl="alignNode1" presStyleIdx="0" presStyleCnt="4" custScaleX="83537" custScaleY="89395">
        <dgm:presLayoutVars>
          <dgm:chMax val="0"/>
          <dgm:bulletEnabled val="1"/>
        </dgm:presLayoutVars>
      </dgm:prSet>
      <dgm:spPr/>
    </dgm:pt>
    <dgm:pt modelId="{1634EE3B-793F-4B1F-8BF8-F9C16014BE28}" type="pres">
      <dgm:prSet presAssocID="{3A67C8EA-F28F-4A51-84C6-98D3DA7B99BE}" presName="nodeRect" presStyleLbl="alignNode1" presStyleIdx="0" presStyleCnt="4">
        <dgm:presLayoutVars>
          <dgm:bulletEnabled val="1"/>
        </dgm:presLayoutVars>
      </dgm:prSet>
      <dgm:spPr/>
    </dgm:pt>
    <dgm:pt modelId="{72F0F4E1-992C-441E-9C67-E1A606EB3D28}" type="pres">
      <dgm:prSet presAssocID="{BFEA4191-828C-4195-A445-5236408F0106}" presName="sibTrans" presStyleCnt="0"/>
      <dgm:spPr/>
    </dgm:pt>
    <dgm:pt modelId="{56B9E8CC-5767-41A1-BE6F-DB9DC22CBC2D}" type="pres">
      <dgm:prSet presAssocID="{EFC392B3-E498-44C8-BE59-FFFF67520500}" presName="compositeNode" presStyleCnt="0">
        <dgm:presLayoutVars>
          <dgm:bulletEnabled val="1"/>
        </dgm:presLayoutVars>
      </dgm:prSet>
      <dgm:spPr/>
    </dgm:pt>
    <dgm:pt modelId="{EB963515-5808-4C80-9984-917F35489400}" type="pres">
      <dgm:prSet presAssocID="{EFC392B3-E498-44C8-BE59-FFFF67520500}" presName="bgRect" presStyleLbl="alignNode1" presStyleIdx="1" presStyleCnt="4"/>
      <dgm:spPr/>
    </dgm:pt>
    <dgm:pt modelId="{16DBDCD5-A41E-4007-B577-9C0948C6F632}" type="pres">
      <dgm:prSet presAssocID="{02025070-A3F4-4523-B778-C49C9ADB5A23}" presName="sibTransNodeRect" presStyleLbl="alignNode1" presStyleIdx="1" presStyleCnt="4">
        <dgm:presLayoutVars>
          <dgm:chMax val="0"/>
          <dgm:bulletEnabled val="1"/>
        </dgm:presLayoutVars>
      </dgm:prSet>
      <dgm:spPr/>
    </dgm:pt>
    <dgm:pt modelId="{524E5704-D34D-4640-9153-A124CFE4F646}" type="pres">
      <dgm:prSet presAssocID="{EFC392B3-E498-44C8-BE59-FFFF67520500}" presName="nodeRect" presStyleLbl="alignNode1" presStyleIdx="1" presStyleCnt="4">
        <dgm:presLayoutVars>
          <dgm:bulletEnabled val="1"/>
        </dgm:presLayoutVars>
      </dgm:prSet>
      <dgm:spPr/>
    </dgm:pt>
    <dgm:pt modelId="{CEFF8EE3-2F29-4D16-B6BA-E2D2BED8445F}" type="pres">
      <dgm:prSet presAssocID="{02025070-A3F4-4523-B778-C49C9ADB5A23}" presName="sibTrans" presStyleCnt="0"/>
      <dgm:spPr/>
    </dgm:pt>
    <dgm:pt modelId="{05734F24-CFA7-4CC0-A292-790E2BAEBB18}" type="pres">
      <dgm:prSet presAssocID="{6BDEDADA-4CA3-4419-BD66-C1B02B823D85}" presName="compositeNode" presStyleCnt="0">
        <dgm:presLayoutVars>
          <dgm:bulletEnabled val="1"/>
        </dgm:presLayoutVars>
      </dgm:prSet>
      <dgm:spPr/>
    </dgm:pt>
    <dgm:pt modelId="{EE6BD008-579C-48F1-9121-632E6C8D276C}" type="pres">
      <dgm:prSet presAssocID="{6BDEDADA-4CA3-4419-BD66-C1B02B823D85}" presName="bgRect" presStyleLbl="alignNode1" presStyleIdx="2" presStyleCnt="4"/>
      <dgm:spPr/>
    </dgm:pt>
    <dgm:pt modelId="{5BE155CE-2C5B-4387-98F5-DC9FCCBE531E}" type="pres">
      <dgm:prSet presAssocID="{1F10036E-19BC-4568-9127-82DD69BE930A}" presName="sibTransNodeRect" presStyleLbl="alignNode1" presStyleIdx="2" presStyleCnt="4">
        <dgm:presLayoutVars>
          <dgm:chMax val="0"/>
          <dgm:bulletEnabled val="1"/>
        </dgm:presLayoutVars>
      </dgm:prSet>
      <dgm:spPr/>
    </dgm:pt>
    <dgm:pt modelId="{807B2187-35D3-4CA0-8DFC-93F81F31AC62}" type="pres">
      <dgm:prSet presAssocID="{6BDEDADA-4CA3-4419-BD66-C1B02B823D85}" presName="nodeRect" presStyleLbl="alignNode1" presStyleIdx="2" presStyleCnt="4">
        <dgm:presLayoutVars>
          <dgm:bulletEnabled val="1"/>
        </dgm:presLayoutVars>
      </dgm:prSet>
      <dgm:spPr/>
    </dgm:pt>
    <dgm:pt modelId="{3F02C2C7-9A37-4978-B370-87656BE28047}" type="pres">
      <dgm:prSet presAssocID="{1F10036E-19BC-4568-9127-82DD69BE930A}" presName="sibTrans" presStyleCnt="0"/>
      <dgm:spPr/>
    </dgm:pt>
    <dgm:pt modelId="{52FBAE13-95FC-4DE7-90CD-5AC33B5CE1D9}" type="pres">
      <dgm:prSet presAssocID="{DCF71FC9-EDCE-48AA-B851-7F6E236FE3EE}" presName="compositeNode" presStyleCnt="0">
        <dgm:presLayoutVars>
          <dgm:bulletEnabled val="1"/>
        </dgm:presLayoutVars>
      </dgm:prSet>
      <dgm:spPr/>
    </dgm:pt>
    <dgm:pt modelId="{746AD9D3-4BBD-4A07-B2DE-C17A1CAFF3C6}" type="pres">
      <dgm:prSet presAssocID="{DCF71FC9-EDCE-48AA-B851-7F6E236FE3EE}" presName="bgRect" presStyleLbl="alignNode1" presStyleIdx="3" presStyleCnt="4"/>
      <dgm:spPr/>
    </dgm:pt>
    <dgm:pt modelId="{9998EA42-EABD-4F37-94D7-835AA2D9D8C0}" type="pres">
      <dgm:prSet presAssocID="{EA0F9647-3CB6-48DE-AB67-E1EF93FA1B56}" presName="sibTransNodeRect" presStyleLbl="alignNode1" presStyleIdx="3" presStyleCnt="4">
        <dgm:presLayoutVars>
          <dgm:chMax val="0"/>
          <dgm:bulletEnabled val="1"/>
        </dgm:presLayoutVars>
      </dgm:prSet>
      <dgm:spPr/>
    </dgm:pt>
    <dgm:pt modelId="{89ED2415-0C6C-4E07-B6A4-6E3F1D7BEA06}" type="pres">
      <dgm:prSet presAssocID="{DCF71FC9-EDCE-48AA-B851-7F6E236FE3EE}" presName="nodeRect" presStyleLbl="alignNode1" presStyleIdx="3" presStyleCnt="4">
        <dgm:presLayoutVars>
          <dgm:bulletEnabled val="1"/>
        </dgm:presLayoutVars>
      </dgm:prSet>
      <dgm:spPr/>
    </dgm:pt>
  </dgm:ptLst>
  <dgm:cxnLst>
    <dgm:cxn modelId="{CD5BF105-9C10-44B0-864C-F25399BA573D}" type="presOf" srcId="{6BDEDADA-4CA3-4419-BD66-C1B02B823D85}" destId="{EE6BD008-579C-48F1-9121-632E6C8D276C}" srcOrd="0" destOrd="0" presId="urn:microsoft.com/office/officeart/2016/7/layout/LinearBlockProcessNumbered"/>
    <dgm:cxn modelId="{A1E7BE18-3652-401A-9CA3-52D74C11C067}" type="presOf" srcId="{3A67C8EA-F28F-4A51-84C6-98D3DA7B99BE}" destId="{69DF403A-4D2E-48A3-A9D1-9ECD7FD86DBF}" srcOrd="0" destOrd="0" presId="urn:microsoft.com/office/officeart/2016/7/layout/LinearBlockProcessNumbered"/>
    <dgm:cxn modelId="{2E86CF1A-F517-4330-82E5-07CAD168EF19}" type="presOf" srcId="{3A67C8EA-F28F-4A51-84C6-98D3DA7B99BE}" destId="{1634EE3B-793F-4B1F-8BF8-F9C16014BE28}" srcOrd="1" destOrd="0" presId="urn:microsoft.com/office/officeart/2016/7/layout/LinearBlockProcessNumbered"/>
    <dgm:cxn modelId="{739AD822-65E9-4325-BBCE-117B1C90B5A1}" srcId="{4410B2D4-94D5-4A49-8947-D64419592F41}" destId="{6BDEDADA-4CA3-4419-BD66-C1B02B823D85}" srcOrd="2" destOrd="0" parTransId="{11944278-4371-4025-B5B0-DA6F7CF97365}" sibTransId="{1F10036E-19BC-4568-9127-82DD69BE930A}"/>
    <dgm:cxn modelId="{B6FA433D-3E3C-4D74-8511-7FFE4CA65869}" type="presOf" srcId="{BFEA4191-828C-4195-A445-5236408F0106}" destId="{F4F8C344-7D1C-46C6-9A11-848875416EFF}" srcOrd="0" destOrd="0" presId="urn:microsoft.com/office/officeart/2016/7/layout/LinearBlockProcessNumbered"/>
    <dgm:cxn modelId="{6E497B3D-04B7-451B-BEAC-59F906981B92}" type="presOf" srcId="{EFC392B3-E498-44C8-BE59-FFFF67520500}" destId="{EB963515-5808-4C80-9984-917F35489400}" srcOrd="0" destOrd="0" presId="urn:microsoft.com/office/officeart/2016/7/layout/LinearBlockProcessNumbered"/>
    <dgm:cxn modelId="{6D6EAE43-5596-41B2-82CB-9491B1DF9E99}" type="presOf" srcId="{EA0F9647-3CB6-48DE-AB67-E1EF93FA1B56}" destId="{9998EA42-EABD-4F37-94D7-835AA2D9D8C0}" srcOrd="0" destOrd="0" presId="urn:microsoft.com/office/officeart/2016/7/layout/LinearBlockProcessNumbered"/>
    <dgm:cxn modelId="{2F469167-68D6-4F0C-AE21-CE5380883BCF}" type="presOf" srcId="{1F10036E-19BC-4568-9127-82DD69BE930A}" destId="{5BE155CE-2C5B-4387-98F5-DC9FCCBE531E}" srcOrd="0" destOrd="0" presId="urn:microsoft.com/office/officeart/2016/7/layout/LinearBlockProcessNumbered"/>
    <dgm:cxn modelId="{9F9F954B-582A-42A3-A1BD-CE54F06CC225}" srcId="{4410B2D4-94D5-4A49-8947-D64419592F41}" destId="{EFC392B3-E498-44C8-BE59-FFFF67520500}" srcOrd="1" destOrd="0" parTransId="{C8E058BB-1001-47EF-AB62-2D70066D1C71}" sibTransId="{02025070-A3F4-4523-B778-C49C9ADB5A23}"/>
    <dgm:cxn modelId="{6B25A558-F9A0-4C15-8C2D-66C5F579E751}" type="presOf" srcId="{4410B2D4-94D5-4A49-8947-D64419592F41}" destId="{83798360-FF76-4144-87A5-34818C8C999A}" srcOrd="0" destOrd="0" presId="urn:microsoft.com/office/officeart/2016/7/layout/LinearBlockProcessNumbered"/>
    <dgm:cxn modelId="{CEB274B0-DB9D-4430-8D15-02D02EAF6A9F}" type="presOf" srcId="{02025070-A3F4-4523-B778-C49C9ADB5A23}" destId="{16DBDCD5-A41E-4007-B577-9C0948C6F632}" srcOrd="0" destOrd="0" presId="urn:microsoft.com/office/officeart/2016/7/layout/LinearBlockProcessNumbered"/>
    <dgm:cxn modelId="{EF965EBC-B595-4145-B44A-690DAF7906EF}" srcId="{4410B2D4-94D5-4A49-8947-D64419592F41}" destId="{3A67C8EA-F28F-4A51-84C6-98D3DA7B99BE}" srcOrd="0" destOrd="0" parTransId="{3AA4B216-DD04-44DC-9149-B6F059C9BCAF}" sibTransId="{BFEA4191-828C-4195-A445-5236408F0106}"/>
    <dgm:cxn modelId="{0766AFD6-2985-48DC-8A63-7C27FF37F3A3}" srcId="{4410B2D4-94D5-4A49-8947-D64419592F41}" destId="{DCF71FC9-EDCE-48AA-B851-7F6E236FE3EE}" srcOrd="3" destOrd="0" parTransId="{BADC1747-5AA3-4A22-9A05-77ED8CEDE416}" sibTransId="{EA0F9647-3CB6-48DE-AB67-E1EF93FA1B56}"/>
    <dgm:cxn modelId="{577EEFD8-2CC5-4732-BEF0-4BC893DCC6E2}" type="presOf" srcId="{DCF71FC9-EDCE-48AA-B851-7F6E236FE3EE}" destId="{89ED2415-0C6C-4E07-B6A4-6E3F1D7BEA06}" srcOrd="1" destOrd="0" presId="urn:microsoft.com/office/officeart/2016/7/layout/LinearBlockProcessNumbered"/>
    <dgm:cxn modelId="{4A75A7DA-1B4D-4C77-BF3B-5AFF4275EACF}" type="presOf" srcId="{EFC392B3-E498-44C8-BE59-FFFF67520500}" destId="{524E5704-D34D-4640-9153-A124CFE4F646}" srcOrd="1" destOrd="0" presId="urn:microsoft.com/office/officeart/2016/7/layout/LinearBlockProcessNumbered"/>
    <dgm:cxn modelId="{009CCFE0-95B9-4E6C-AF3B-3B83B76E4497}" type="presOf" srcId="{DCF71FC9-EDCE-48AA-B851-7F6E236FE3EE}" destId="{746AD9D3-4BBD-4A07-B2DE-C17A1CAFF3C6}" srcOrd="0" destOrd="0" presId="urn:microsoft.com/office/officeart/2016/7/layout/LinearBlockProcessNumbered"/>
    <dgm:cxn modelId="{637A8FF0-FE7B-42D3-8D6F-EC8FBF3F941C}" type="presOf" srcId="{6BDEDADA-4CA3-4419-BD66-C1B02B823D85}" destId="{807B2187-35D3-4CA0-8DFC-93F81F31AC62}" srcOrd="1" destOrd="0" presId="urn:microsoft.com/office/officeart/2016/7/layout/LinearBlockProcessNumbered"/>
    <dgm:cxn modelId="{9A3322B6-93CB-44F0-9C9D-F6982F0F9957}" type="presParOf" srcId="{83798360-FF76-4144-87A5-34818C8C999A}" destId="{B6264E89-5E7F-433A-A11C-16D6FAA22978}" srcOrd="0" destOrd="0" presId="urn:microsoft.com/office/officeart/2016/7/layout/LinearBlockProcessNumbered"/>
    <dgm:cxn modelId="{7A16AD52-3AD9-4491-9FF1-68E48AF4650D}" type="presParOf" srcId="{B6264E89-5E7F-433A-A11C-16D6FAA22978}" destId="{69DF403A-4D2E-48A3-A9D1-9ECD7FD86DBF}" srcOrd="0" destOrd="0" presId="urn:microsoft.com/office/officeart/2016/7/layout/LinearBlockProcessNumbered"/>
    <dgm:cxn modelId="{F8290FE9-43C5-4363-AE54-02577485E6B3}" type="presParOf" srcId="{B6264E89-5E7F-433A-A11C-16D6FAA22978}" destId="{F4F8C344-7D1C-46C6-9A11-848875416EFF}" srcOrd="1" destOrd="0" presId="urn:microsoft.com/office/officeart/2016/7/layout/LinearBlockProcessNumbered"/>
    <dgm:cxn modelId="{39C5A57B-8899-4714-B89A-22C80D43A431}" type="presParOf" srcId="{B6264E89-5E7F-433A-A11C-16D6FAA22978}" destId="{1634EE3B-793F-4B1F-8BF8-F9C16014BE28}" srcOrd="2" destOrd="0" presId="urn:microsoft.com/office/officeart/2016/7/layout/LinearBlockProcessNumbered"/>
    <dgm:cxn modelId="{6B9A1D40-D8F1-4E6C-B83F-A19A8F3C0355}" type="presParOf" srcId="{83798360-FF76-4144-87A5-34818C8C999A}" destId="{72F0F4E1-992C-441E-9C67-E1A606EB3D28}" srcOrd="1" destOrd="0" presId="urn:microsoft.com/office/officeart/2016/7/layout/LinearBlockProcessNumbered"/>
    <dgm:cxn modelId="{F2FC1174-5350-4651-A5DD-E04B28602FAD}" type="presParOf" srcId="{83798360-FF76-4144-87A5-34818C8C999A}" destId="{56B9E8CC-5767-41A1-BE6F-DB9DC22CBC2D}" srcOrd="2" destOrd="0" presId="urn:microsoft.com/office/officeart/2016/7/layout/LinearBlockProcessNumbered"/>
    <dgm:cxn modelId="{39E4BFA4-81D8-4552-B096-A5FBBBEF8E9C}" type="presParOf" srcId="{56B9E8CC-5767-41A1-BE6F-DB9DC22CBC2D}" destId="{EB963515-5808-4C80-9984-917F35489400}" srcOrd="0" destOrd="0" presId="urn:microsoft.com/office/officeart/2016/7/layout/LinearBlockProcessNumbered"/>
    <dgm:cxn modelId="{EB21F0BD-5193-4D4E-BF9D-8BBE794452BA}" type="presParOf" srcId="{56B9E8CC-5767-41A1-BE6F-DB9DC22CBC2D}" destId="{16DBDCD5-A41E-4007-B577-9C0948C6F632}" srcOrd="1" destOrd="0" presId="urn:microsoft.com/office/officeart/2016/7/layout/LinearBlockProcessNumbered"/>
    <dgm:cxn modelId="{BD10DBC7-A62B-4DD2-8016-6164C8C48623}" type="presParOf" srcId="{56B9E8CC-5767-41A1-BE6F-DB9DC22CBC2D}" destId="{524E5704-D34D-4640-9153-A124CFE4F646}" srcOrd="2" destOrd="0" presId="urn:microsoft.com/office/officeart/2016/7/layout/LinearBlockProcessNumbered"/>
    <dgm:cxn modelId="{E270BB70-A631-43D3-8226-ADFDF6B72E03}" type="presParOf" srcId="{83798360-FF76-4144-87A5-34818C8C999A}" destId="{CEFF8EE3-2F29-4D16-B6BA-E2D2BED8445F}" srcOrd="3" destOrd="0" presId="urn:microsoft.com/office/officeart/2016/7/layout/LinearBlockProcessNumbered"/>
    <dgm:cxn modelId="{73B0395D-D0B3-4571-8F59-FB55B463B82D}" type="presParOf" srcId="{83798360-FF76-4144-87A5-34818C8C999A}" destId="{05734F24-CFA7-4CC0-A292-790E2BAEBB18}" srcOrd="4" destOrd="0" presId="urn:microsoft.com/office/officeart/2016/7/layout/LinearBlockProcessNumbered"/>
    <dgm:cxn modelId="{DD2F309A-D266-4165-86FF-566A1E08B231}" type="presParOf" srcId="{05734F24-CFA7-4CC0-A292-790E2BAEBB18}" destId="{EE6BD008-579C-48F1-9121-632E6C8D276C}" srcOrd="0" destOrd="0" presId="urn:microsoft.com/office/officeart/2016/7/layout/LinearBlockProcessNumbered"/>
    <dgm:cxn modelId="{D4C0560C-2051-4749-B2E4-5BC339446827}" type="presParOf" srcId="{05734F24-CFA7-4CC0-A292-790E2BAEBB18}" destId="{5BE155CE-2C5B-4387-98F5-DC9FCCBE531E}" srcOrd="1" destOrd="0" presId="urn:microsoft.com/office/officeart/2016/7/layout/LinearBlockProcessNumbered"/>
    <dgm:cxn modelId="{13053870-EC26-45A3-9A17-6010EB08365E}" type="presParOf" srcId="{05734F24-CFA7-4CC0-A292-790E2BAEBB18}" destId="{807B2187-35D3-4CA0-8DFC-93F81F31AC62}" srcOrd="2" destOrd="0" presId="urn:microsoft.com/office/officeart/2016/7/layout/LinearBlockProcessNumbered"/>
    <dgm:cxn modelId="{8B132DCE-A0A2-4730-9E30-29197DF71917}" type="presParOf" srcId="{83798360-FF76-4144-87A5-34818C8C999A}" destId="{3F02C2C7-9A37-4978-B370-87656BE28047}" srcOrd="5" destOrd="0" presId="urn:microsoft.com/office/officeart/2016/7/layout/LinearBlockProcessNumbered"/>
    <dgm:cxn modelId="{B86649CD-5D2D-414B-ACC1-C7BBB064EA10}" type="presParOf" srcId="{83798360-FF76-4144-87A5-34818C8C999A}" destId="{52FBAE13-95FC-4DE7-90CD-5AC33B5CE1D9}" srcOrd="6" destOrd="0" presId="urn:microsoft.com/office/officeart/2016/7/layout/LinearBlockProcessNumbered"/>
    <dgm:cxn modelId="{BC8A96ED-A5A8-43BA-A851-077069F3C823}" type="presParOf" srcId="{52FBAE13-95FC-4DE7-90CD-5AC33B5CE1D9}" destId="{746AD9D3-4BBD-4A07-B2DE-C17A1CAFF3C6}" srcOrd="0" destOrd="0" presId="urn:microsoft.com/office/officeart/2016/7/layout/LinearBlockProcessNumbered"/>
    <dgm:cxn modelId="{9F4235E3-FA4E-44C3-8D81-26058DEFC3AD}" type="presParOf" srcId="{52FBAE13-95FC-4DE7-90CD-5AC33B5CE1D9}" destId="{9998EA42-EABD-4F37-94D7-835AA2D9D8C0}" srcOrd="1" destOrd="0" presId="urn:microsoft.com/office/officeart/2016/7/layout/LinearBlockProcessNumbered"/>
    <dgm:cxn modelId="{0A59EB2F-153E-4C58-8190-F3F16DA77F0B}" type="presParOf" srcId="{52FBAE13-95FC-4DE7-90CD-5AC33B5CE1D9}" destId="{89ED2415-0C6C-4E07-B6A4-6E3F1D7BEA06}"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DF403A-4D2E-48A3-A9D1-9ECD7FD86DBF}">
      <dsp:nvSpPr>
        <dsp:cNvPr id="0" name=""/>
        <dsp:cNvSpPr/>
      </dsp:nvSpPr>
      <dsp:spPr>
        <a:xfrm>
          <a:off x="154" y="516205"/>
          <a:ext cx="1859998" cy="2231997"/>
        </a:xfrm>
        <a:prstGeom prst="rect">
          <a:avLst/>
        </a:prstGeom>
        <a:solidFill>
          <a:schemeClr val="dk2">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726" tIns="0" rIns="183726" bIns="330200" numCol="1" spcCol="1270" anchor="t" anchorCtr="0">
          <a:noAutofit/>
        </a:bodyPr>
        <a:lstStyle/>
        <a:p>
          <a:pPr marL="0" lvl="0" indent="0" algn="l" defTabSz="755650">
            <a:lnSpc>
              <a:spcPct val="90000"/>
            </a:lnSpc>
            <a:spcBef>
              <a:spcPct val="0"/>
            </a:spcBef>
            <a:spcAft>
              <a:spcPct val="35000"/>
            </a:spcAft>
            <a:buNone/>
          </a:pPr>
          <a:r>
            <a:rPr lang="en-US" sz="1700" kern="1200" dirty="0"/>
            <a:t>Global CO2 Emissions are up 60% in past 3 decades)</a:t>
          </a:r>
        </a:p>
      </dsp:txBody>
      <dsp:txXfrm>
        <a:off x="154" y="1409004"/>
        <a:ext cx="1859998" cy="1339198"/>
      </dsp:txXfrm>
    </dsp:sp>
    <dsp:sp modelId="{F4F8C344-7D1C-46C6-9A11-848875416EFF}">
      <dsp:nvSpPr>
        <dsp:cNvPr id="0" name=""/>
        <dsp:cNvSpPr/>
      </dsp:nvSpPr>
      <dsp:spPr>
        <a:xfrm>
          <a:off x="153259" y="563545"/>
          <a:ext cx="1553786" cy="79811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3726" tIns="165100" rIns="183726" bIns="165100" numCol="1" spcCol="1270" anchor="ctr" anchorCtr="0">
          <a:noAutofit/>
        </a:bodyPr>
        <a:lstStyle/>
        <a:p>
          <a:pPr marL="0" lvl="0" indent="0" algn="l" defTabSz="1466850">
            <a:lnSpc>
              <a:spcPct val="90000"/>
            </a:lnSpc>
            <a:spcBef>
              <a:spcPct val="0"/>
            </a:spcBef>
            <a:spcAft>
              <a:spcPct val="35000"/>
            </a:spcAft>
            <a:buNone/>
          </a:pPr>
          <a:r>
            <a:rPr lang="en-US" sz="3300" kern="1200"/>
            <a:t>01</a:t>
          </a:r>
          <a:endParaRPr lang="en-US" sz="3300" kern="1200" dirty="0"/>
        </a:p>
      </dsp:txBody>
      <dsp:txXfrm>
        <a:off x="153259" y="563545"/>
        <a:ext cx="1553786" cy="798117"/>
      </dsp:txXfrm>
    </dsp:sp>
    <dsp:sp modelId="{EB963515-5808-4C80-9984-917F35489400}">
      <dsp:nvSpPr>
        <dsp:cNvPr id="0" name=""/>
        <dsp:cNvSpPr/>
      </dsp:nvSpPr>
      <dsp:spPr>
        <a:xfrm>
          <a:off x="2008951" y="516205"/>
          <a:ext cx="1859998" cy="2231997"/>
        </a:xfrm>
        <a:prstGeom prst="rect">
          <a:avLst/>
        </a:prstGeom>
        <a:solidFill>
          <a:schemeClr val="dk2">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726" tIns="0" rIns="183726" bIns="330200" numCol="1" spcCol="1270" anchor="t" anchorCtr="0">
          <a:noAutofit/>
        </a:bodyPr>
        <a:lstStyle/>
        <a:p>
          <a:pPr marL="0" lvl="0" indent="0" algn="l" defTabSz="755650">
            <a:lnSpc>
              <a:spcPct val="90000"/>
            </a:lnSpc>
            <a:spcBef>
              <a:spcPct val="0"/>
            </a:spcBef>
            <a:spcAft>
              <a:spcPct val="35000"/>
            </a:spcAft>
            <a:buNone/>
          </a:pPr>
          <a:r>
            <a:rPr lang="en-US" sz="1700" kern="1200" dirty="0"/>
            <a:t>Global Plastic Production up ~280%  in past 3 decades</a:t>
          </a:r>
        </a:p>
      </dsp:txBody>
      <dsp:txXfrm>
        <a:off x="2008951" y="1409004"/>
        <a:ext cx="1859998" cy="1339198"/>
      </dsp:txXfrm>
    </dsp:sp>
    <dsp:sp modelId="{16DBDCD5-A41E-4007-B577-9C0948C6F632}">
      <dsp:nvSpPr>
        <dsp:cNvPr id="0" name=""/>
        <dsp:cNvSpPr/>
      </dsp:nvSpPr>
      <dsp:spPr>
        <a:xfrm>
          <a:off x="2008951" y="516205"/>
          <a:ext cx="1859998" cy="8927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3726" tIns="165100" rIns="183726" bIns="165100" numCol="1" spcCol="1270" anchor="ctr" anchorCtr="0">
          <a:noAutofit/>
        </a:bodyPr>
        <a:lstStyle/>
        <a:p>
          <a:pPr marL="0" lvl="0" indent="0" algn="l" defTabSz="1466850">
            <a:lnSpc>
              <a:spcPct val="90000"/>
            </a:lnSpc>
            <a:spcBef>
              <a:spcPct val="0"/>
            </a:spcBef>
            <a:spcAft>
              <a:spcPct val="35000"/>
            </a:spcAft>
            <a:buNone/>
          </a:pPr>
          <a:r>
            <a:rPr lang="en-US" sz="3300" kern="1200"/>
            <a:t>02</a:t>
          </a:r>
          <a:endParaRPr lang="en-US" sz="3300" kern="1200" dirty="0"/>
        </a:p>
      </dsp:txBody>
      <dsp:txXfrm>
        <a:off x="2008951" y="516205"/>
        <a:ext cx="1859998" cy="892799"/>
      </dsp:txXfrm>
    </dsp:sp>
    <dsp:sp modelId="{EE6BD008-579C-48F1-9121-632E6C8D276C}">
      <dsp:nvSpPr>
        <dsp:cNvPr id="0" name=""/>
        <dsp:cNvSpPr/>
      </dsp:nvSpPr>
      <dsp:spPr>
        <a:xfrm>
          <a:off x="4017749" y="516205"/>
          <a:ext cx="1859998" cy="2231997"/>
        </a:xfrm>
        <a:prstGeom prst="rect">
          <a:avLst/>
        </a:prstGeom>
        <a:solidFill>
          <a:schemeClr val="dk2">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726" tIns="0" rIns="183726" bIns="330200" numCol="1" spcCol="1270" anchor="t" anchorCtr="0">
          <a:noAutofit/>
        </a:bodyPr>
        <a:lstStyle/>
        <a:p>
          <a:pPr marL="0" lvl="0" indent="0" algn="l" defTabSz="755650">
            <a:lnSpc>
              <a:spcPct val="90000"/>
            </a:lnSpc>
            <a:spcBef>
              <a:spcPct val="0"/>
            </a:spcBef>
            <a:spcAft>
              <a:spcPct val="35000"/>
            </a:spcAft>
            <a:buNone/>
          </a:pPr>
          <a:r>
            <a:rPr lang="en-US" sz="1700" kern="1200"/>
            <a:t>Global Energy Demand continues to increase as well</a:t>
          </a:r>
        </a:p>
      </dsp:txBody>
      <dsp:txXfrm>
        <a:off x="4017749" y="1409004"/>
        <a:ext cx="1859998" cy="1339198"/>
      </dsp:txXfrm>
    </dsp:sp>
    <dsp:sp modelId="{5BE155CE-2C5B-4387-98F5-DC9FCCBE531E}">
      <dsp:nvSpPr>
        <dsp:cNvPr id="0" name=""/>
        <dsp:cNvSpPr/>
      </dsp:nvSpPr>
      <dsp:spPr>
        <a:xfrm>
          <a:off x="4017749" y="516205"/>
          <a:ext cx="1859998" cy="8927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3726" tIns="165100" rIns="183726" bIns="165100" numCol="1" spcCol="1270" anchor="ctr" anchorCtr="0">
          <a:noAutofit/>
        </a:bodyPr>
        <a:lstStyle/>
        <a:p>
          <a:pPr marL="0" lvl="0" indent="0" algn="l" defTabSz="1466850">
            <a:lnSpc>
              <a:spcPct val="90000"/>
            </a:lnSpc>
            <a:spcBef>
              <a:spcPct val="0"/>
            </a:spcBef>
            <a:spcAft>
              <a:spcPct val="35000"/>
            </a:spcAft>
            <a:buNone/>
          </a:pPr>
          <a:r>
            <a:rPr lang="en-US" sz="3300" kern="1200"/>
            <a:t>03</a:t>
          </a:r>
        </a:p>
      </dsp:txBody>
      <dsp:txXfrm>
        <a:off x="4017749" y="516205"/>
        <a:ext cx="1859998" cy="892799"/>
      </dsp:txXfrm>
    </dsp:sp>
    <dsp:sp modelId="{746AD9D3-4BBD-4A07-B2DE-C17A1CAFF3C6}">
      <dsp:nvSpPr>
        <dsp:cNvPr id="0" name=""/>
        <dsp:cNvSpPr/>
      </dsp:nvSpPr>
      <dsp:spPr>
        <a:xfrm>
          <a:off x="6026547" y="516205"/>
          <a:ext cx="1859998" cy="2231997"/>
        </a:xfrm>
        <a:prstGeom prst="rect">
          <a:avLst/>
        </a:prstGeom>
        <a:solidFill>
          <a:schemeClr val="dk2">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726" tIns="0" rIns="183726" bIns="330200" numCol="1" spcCol="1270" anchor="t" anchorCtr="0">
          <a:noAutofit/>
        </a:bodyPr>
        <a:lstStyle/>
        <a:p>
          <a:pPr marL="0" lvl="0" indent="0" algn="l" defTabSz="755650">
            <a:lnSpc>
              <a:spcPct val="90000"/>
            </a:lnSpc>
            <a:spcBef>
              <a:spcPct val="0"/>
            </a:spcBef>
            <a:spcAft>
              <a:spcPct val="35000"/>
            </a:spcAft>
            <a:buNone/>
          </a:pPr>
          <a:r>
            <a:rPr lang="en-US" sz="1700" kern="1200"/>
            <a:t>Energy derived from Fossil Fuels leads to Global Warming</a:t>
          </a:r>
          <a:endParaRPr lang="en-US" sz="1700" kern="1200" dirty="0"/>
        </a:p>
      </dsp:txBody>
      <dsp:txXfrm>
        <a:off x="6026547" y="1409004"/>
        <a:ext cx="1859998" cy="1339198"/>
      </dsp:txXfrm>
    </dsp:sp>
    <dsp:sp modelId="{9998EA42-EABD-4F37-94D7-835AA2D9D8C0}">
      <dsp:nvSpPr>
        <dsp:cNvPr id="0" name=""/>
        <dsp:cNvSpPr/>
      </dsp:nvSpPr>
      <dsp:spPr>
        <a:xfrm>
          <a:off x="6026547" y="516205"/>
          <a:ext cx="1859998" cy="89279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3726" tIns="165100" rIns="183726" bIns="165100" numCol="1" spcCol="1270" anchor="ctr" anchorCtr="0">
          <a:noAutofit/>
        </a:bodyPr>
        <a:lstStyle/>
        <a:p>
          <a:pPr marL="0" lvl="0" indent="0" algn="l" defTabSz="1466850">
            <a:lnSpc>
              <a:spcPct val="90000"/>
            </a:lnSpc>
            <a:spcBef>
              <a:spcPct val="0"/>
            </a:spcBef>
            <a:spcAft>
              <a:spcPct val="35000"/>
            </a:spcAft>
            <a:buNone/>
          </a:pPr>
          <a:r>
            <a:rPr lang="en-US" sz="3300" kern="1200"/>
            <a:t>04</a:t>
          </a:r>
        </a:p>
      </dsp:txBody>
      <dsp:txXfrm>
        <a:off x="6026547" y="516205"/>
        <a:ext cx="1859998" cy="892799"/>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550B92-7C55-6FC8-26D7-89DE5DAA004C}"/>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4A4CA8D-B425-F062-50A9-9A8B979F02EC}"/>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829F0B17-1D70-498B-9E97-424C7099CD14}" type="datetimeFigureOut">
              <a:rPr lang="en-US" smtClean="0"/>
              <a:t>5/12/2026</a:t>
            </a:fld>
            <a:endParaRPr lang="en-US"/>
          </a:p>
        </p:txBody>
      </p:sp>
      <p:sp>
        <p:nvSpPr>
          <p:cNvPr id="4" name="Footer Placeholder 3">
            <a:extLst>
              <a:ext uri="{FF2B5EF4-FFF2-40B4-BE49-F238E27FC236}">
                <a16:creationId xmlns:a16="http://schemas.microsoft.com/office/drawing/2014/main" id="{13AD3D61-35FD-ED1B-1C9A-F9379F652011}"/>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D52FEA5-49A7-A336-010F-5653EF1BFAA4}"/>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2A9320F3-DA4F-4E89-9E7A-74D1ACF692B2}" type="slidenum">
              <a:rPr lang="en-US" smtClean="0"/>
              <a:t>‹#›</a:t>
            </a:fld>
            <a:endParaRPr lang="en-US"/>
          </a:p>
        </p:txBody>
      </p:sp>
    </p:spTree>
    <p:extLst>
      <p:ext uri="{BB962C8B-B14F-4D97-AF65-F5344CB8AC3E}">
        <p14:creationId xmlns:p14="http://schemas.microsoft.com/office/powerpoint/2010/main" val="32319779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099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Climate change and pollution are no longer abstract environmental concepts. They are already disrupting ecosystems, biodiversity, and species survival across the planet. This project explores one of the underlying drivers behind this challenge — the relationship between economic growth, energy consumption, and increasingly plastic-intensive global supply chains.</a:t>
            </a:r>
          </a:p>
        </p:txBody>
      </p:sp>
      <p:sp>
        <p:nvSpPr>
          <p:cNvPr id="4" name="Slide Number Placeholder 3"/>
          <p:cNvSpPr>
            <a:spLocks noGrp="1"/>
          </p:cNvSpPr>
          <p:nvPr>
            <p:ph type="sldNum" sz="quarter" idx="4294967295"/>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
        <p:nvSpPr>
          <p:cNvPr id="5" name="Notes Placeholder 4">
            <a:extLst>
              <a:ext uri="{FF2B5EF4-FFF2-40B4-BE49-F238E27FC236}">
                <a16:creationId xmlns:a16="http://schemas.microsoft.com/office/drawing/2014/main" id="{41692C79-B778-8919-720C-1FE8DFFCA172}"/>
              </a:ext>
            </a:extLst>
          </p:cNvPr>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
        <p:nvSpPr>
          <p:cNvPr id="5" name="Notes Placeholder 4">
            <a:extLst>
              <a:ext uri="{FF2B5EF4-FFF2-40B4-BE49-F238E27FC236}">
                <a16:creationId xmlns:a16="http://schemas.microsoft.com/office/drawing/2014/main" id="{495273D2-495E-47EF-E206-63D66A4954E5}"/>
              </a:ext>
            </a:extLst>
          </p:cNvPr>
          <p:cNvSpPr>
            <a:spLocks noGrp="1"/>
          </p:cNvSpPr>
          <p:nvPr>
            <p:ph type="body" idx="1"/>
          </p:nvPr>
        </p:nvSpPr>
        <p:spPr>
          <a:xfrm>
            <a:off x="514350" y="4400550"/>
            <a:ext cx="4114800" cy="3600450"/>
          </a:xfrm>
          <a:prstGeom prst="rect">
            <a:avLst/>
          </a:prstGeom>
        </p:spPr>
        <p:txBody>
          <a:bodyPr/>
          <a:lstStyle/>
          <a:p>
            <a:r>
              <a:rPr lang="en-US" b="1" dirty="0"/>
              <a:t>Key Challenges</a:t>
            </a:r>
          </a:p>
          <a:p>
            <a:r>
              <a:rPr lang="en-US" dirty="0"/>
              <a:t>Global CO₂ emissions continue to rise</a:t>
            </a:r>
          </a:p>
          <a:p>
            <a:r>
              <a:rPr lang="en-US" dirty="0"/>
              <a:t>Plastic production has accelerated rapidly</a:t>
            </a:r>
          </a:p>
          <a:p>
            <a:r>
              <a:rPr lang="en-US" sz="1200" b="0" i="0" u="none" strike="noStrike" kern="1200" dirty="0">
                <a:solidFill>
                  <a:schemeClr val="tx1"/>
                </a:solidFill>
                <a:effectLst/>
                <a:latin typeface="+mn-lt"/>
                <a:ea typeface="+mn-ea"/>
                <a:cs typeface="+mn-cs"/>
              </a:rPr>
              <a:t>As per an UN article, plastics contributed to ~3.4% of the total greenhouse gas emissions contributing to global warming in 2019. The production of plastics which is mostly from fossil fuels is projected to triple by 2060.</a:t>
            </a:r>
            <a:endParaRPr lang="en-US" dirty="0"/>
          </a:p>
          <a:p>
            <a:r>
              <a:rPr lang="en-US" dirty="0"/>
              <a:t>Global Energy demand continues to increase and Supply chains are increasingly energy intensive</a:t>
            </a:r>
          </a:p>
          <a:p>
            <a:r>
              <a:rPr lang="en-US" dirty="0"/>
              <a:t>Organizations face pressure to meet sustainability goals</a:t>
            </a:r>
          </a:p>
          <a:p>
            <a:r>
              <a:rPr lang="en-US" b="1" dirty="0"/>
              <a:t>Key Question</a:t>
            </a:r>
          </a:p>
          <a:p>
            <a:r>
              <a:rPr lang="en-US" dirty="0"/>
              <a:t>How do economic activity, energy usage, population growth, and plastics collectively influence global warming?</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
        <p:nvSpPr>
          <p:cNvPr id="5" name="Notes Placeholder 4">
            <a:extLst>
              <a:ext uri="{FF2B5EF4-FFF2-40B4-BE49-F238E27FC236}">
                <a16:creationId xmlns:a16="http://schemas.microsoft.com/office/drawing/2014/main" id="{1E9AD685-F659-5723-2B1D-F49F01719CD6}"/>
              </a:ext>
            </a:extLst>
          </p:cNvPr>
          <p:cNvSpPr>
            <a:spLocks noGrp="1"/>
          </p:cNvSpPr>
          <p:nvPr>
            <p:ph type="body" idx="1"/>
          </p:nvPr>
        </p:nvSpPr>
        <p:spPr>
          <a:xfrm>
            <a:off x="514350" y="4400550"/>
            <a:ext cx="4114800" cy="3600450"/>
          </a:xfrm>
          <a:prstGeom prst="rect">
            <a:avLst/>
          </a:prstGeom>
        </p:spPr>
        <p:txBody>
          <a:bodyPr/>
          <a:lstStyle/>
          <a:p>
            <a:r>
              <a:rPr lang="en-US" dirty="0"/>
              <a:t>This project aims to predict and provide actionable insights into how national economic activity, energy usage, and demographic factors influence global warming, using carbon dioxide (CO₂) emissions as the key indicator.</a:t>
            </a:r>
          </a:p>
          <a:p>
            <a:r>
              <a:rPr lang="en-US" dirty="0"/>
              <a:t>The analysis is conducted within the broader context of increasingly plastic-intensive global supply chains over the past several decades.</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
        <p:nvSpPr>
          <p:cNvPr id="5" name="Notes Placeholder 4">
            <a:extLst>
              <a:ext uri="{FF2B5EF4-FFF2-40B4-BE49-F238E27FC236}">
                <a16:creationId xmlns:a16="http://schemas.microsoft.com/office/drawing/2014/main" id="{039C34C8-71FA-7191-3AA9-FDBFE44E01FF}"/>
              </a:ext>
            </a:extLst>
          </p:cNvPr>
          <p:cNvSpPr>
            <a:spLocks noGrp="1"/>
          </p:cNvSpPr>
          <p:nvPr>
            <p:ph type="body" idx="1"/>
          </p:nvPr>
        </p:nvSpPr>
        <p:spPr>
          <a:xfrm>
            <a:off x="514350" y="4400550"/>
            <a:ext cx="4114800" cy="3600450"/>
          </a:xfrm>
          <a:prstGeom prst="rect">
            <a:avLst/>
          </a:prstGeom>
        </p:spPr>
        <p:txBody>
          <a:bodyPr/>
          <a:lstStyle/>
          <a:p>
            <a:r>
              <a:rPr lang="en-US" dirty="0"/>
              <a:t>Identify key drivers of CO₂ emissions</a:t>
            </a:r>
          </a:p>
          <a:p>
            <a:r>
              <a:rPr lang="en-US" dirty="0"/>
              <a:t>Compare total emissions vs. emissions per capita</a:t>
            </a:r>
          </a:p>
          <a:p>
            <a:r>
              <a:rPr lang="en-US" dirty="0"/>
              <a:t>Assess the role of energy consumption</a:t>
            </a:r>
          </a:p>
          <a:p>
            <a:r>
              <a:rPr lang="en-US" dirty="0"/>
              <a:t>Contextualize findings within rising global plastics production</a:t>
            </a:r>
          </a:p>
          <a:p>
            <a:r>
              <a:rPr lang="en-US" dirty="0"/>
              <a:t>Develop predictive machine learning models</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
        <p:nvSpPr>
          <p:cNvPr id="5" name="Notes Placeholder 4">
            <a:extLst>
              <a:ext uri="{FF2B5EF4-FFF2-40B4-BE49-F238E27FC236}">
                <a16:creationId xmlns:a16="http://schemas.microsoft.com/office/drawing/2014/main" id="{FF979D73-942A-CAA0-847F-3A9375C4FB00}"/>
              </a:ext>
            </a:extLst>
          </p:cNvPr>
          <p:cNvSpPr>
            <a:spLocks noGrp="1"/>
          </p:cNvSpPr>
          <p:nvPr>
            <p:ph type="body" idx="1"/>
          </p:nvPr>
        </p:nvSpPr>
        <p:spPr>
          <a:xfrm>
            <a:off x="514350" y="4400550"/>
            <a:ext cx="4114800" cy="3600450"/>
          </a:xfrm>
          <a:prstGeom prst="rect">
            <a:avLst/>
          </a:prstGeom>
        </p:spPr>
        <p:txBody>
          <a:bodyPr/>
          <a:lstStyle/>
          <a:p>
            <a:r>
              <a:rPr lang="en-US" b="1" dirty="0"/>
              <a:t>Dataset 1 — CO₂ Master Dataset</a:t>
            </a:r>
          </a:p>
          <a:p>
            <a:r>
              <a:rPr lang="en-US" dirty="0"/>
              <a:t>Country-year level data</a:t>
            </a:r>
          </a:p>
          <a:p>
            <a:r>
              <a:rPr lang="en-US" dirty="0"/>
              <a:t>1990–2019</a:t>
            </a:r>
          </a:p>
          <a:p>
            <a:r>
              <a:rPr lang="en-US" dirty="0"/>
              <a:t>Features:</a:t>
            </a:r>
          </a:p>
          <a:p>
            <a:pPr lvl="1"/>
            <a:r>
              <a:rPr lang="en-US" dirty="0"/>
              <a:t>GDP</a:t>
            </a:r>
          </a:p>
          <a:p>
            <a:pPr lvl="1"/>
            <a:r>
              <a:rPr lang="en-US" dirty="0"/>
              <a:t>Population</a:t>
            </a:r>
          </a:p>
          <a:p>
            <a:pPr lvl="1"/>
            <a:r>
              <a:rPr lang="en-US" dirty="0"/>
              <a:t>Energy per capita</a:t>
            </a:r>
          </a:p>
          <a:p>
            <a:pPr lvl="1"/>
            <a:r>
              <a:rPr lang="en-US" dirty="0"/>
              <a:t>CO₂ emissions</a:t>
            </a:r>
          </a:p>
          <a:p>
            <a:r>
              <a:rPr lang="en-US" b="1" dirty="0"/>
              <a:t>Dataset 2 — Global Plastics Dataset</a:t>
            </a:r>
          </a:p>
          <a:p>
            <a:r>
              <a:rPr lang="en-US" dirty="0"/>
              <a:t>Global yearly plastic production</a:t>
            </a:r>
          </a:p>
          <a:p>
            <a:r>
              <a:rPr lang="en-US" dirty="0"/>
              <a:t>1950–2019</a:t>
            </a:r>
          </a:p>
          <a:p>
            <a:r>
              <a:rPr lang="en-US" b="1" dirty="0"/>
              <a:t>Source</a:t>
            </a:r>
          </a:p>
          <a:p>
            <a:r>
              <a:rPr lang="en-US" dirty="0"/>
              <a:t>Our World in Data</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
        <p:nvSpPr>
          <p:cNvPr id="5" name="Notes Placeholder 4">
            <a:extLst>
              <a:ext uri="{FF2B5EF4-FFF2-40B4-BE49-F238E27FC236}">
                <a16:creationId xmlns:a16="http://schemas.microsoft.com/office/drawing/2014/main" id="{9C2D52A1-38AB-C009-27CD-40A9A816C84D}"/>
              </a:ext>
            </a:extLst>
          </p:cNvPr>
          <p:cNvSpPr>
            <a:spLocks noGrp="1"/>
          </p:cNvSpPr>
          <p:nvPr>
            <p:ph type="body" idx="1"/>
          </p:nvPr>
        </p:nvSpPr>
        <p:spPr>
          <a:xfrm>
            <a:off x="514350" y="4400550"/>
            <a:ext cx="4114800" cy="3600450"/>
          </a:xfrm>
          <a:prstGeom prst="rect">
            <a:avLst/>
          </a:prstGeom>
        </p:spPr>
        <p:txBody>
          <a:bodyPr/>
          <a:lstStyle/>
          <a:p>
            <a:r>
              <a:rPr lang="en-US" b="1" dirty="0"/>
              <a:t>Key Steps</a:t>
            </a:r>
          </a:p>
          <a:p>
            <a:r>
              <a:rPr lang="en-US" dirty="0"/>
              <a:t>Reduced CO₂ dataset from 79 → 10 columns</a:t>
            </a:r>
          </a:p>
          <a:p>
            <a:r>
              <a:rPr lang="en-US" dirty="0"/>
              <a:t>Removed non-country aggregates</a:t>
            </a:r>
          </a:p>
          <a:p>
            <a:r>
              <a:rPr lang="en-US" dirty="0"/>
              <a:t>Filtered timeframe to 1990–2019</a:t>
            </a:r>
          </a:p>
          <a:p>
            <a:r>
              <a:rPr lang="en-US" dirty="0"/>
              <a:t>Handled missing values</a:t>
            </a:r>
          </a:p>
          <a:p>
            <a:r>
              <a:rPr lang="en-US" dirty="0"/>
              <a:t>Created global merged CO₂ + plastics dataset</a:t>
            </a:r>
          </a:p>
          <a:p>
            <a:r>
              <a:rPr lang="en-US" dirty="0"/>
              <a:t>Standardized units</a:t>
            </a:r>
          </a:p>
          <a:p>
            <a:r>
              <a:rPr lang="en-US" b="1" dirty="0"/>
              <a:t>Final Datasets</a:t>
            </a:r>
          </a:p>
          <a:p>
            <a:r>
              <a:rPr lang="en-US" dirty="0"/>
              <a:t>Country-year modeling dataset</a:t>
            </a:r>
          </a:p>
          <a:p>
            <a:r>
              <a:rPr lang="en-US" dirty="0"/>
              <a:t>Global trend analysis dataset</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
        <p:nvSpPr>
          <p:cNvPr id="5" name="Notes Placeholder 4">
            <a:extLst>
              <a:ext uri="{FF2B5EF4-FFF2-40B4-BE49-F238E27FC236}">
                <a16:creationId xmlns:a16="http://schemas.microsoft.com/office/drawing/2014/main" id="{050AD041-F0FD-E556-76DF-7EB59730C1C4}"/>
              </a:ext>
            </a:extLst>
          </p:cNvPr>
          <p:cNvSpPr>
            <a:spLocks noGrp="1"/>
          </p:cNvSpPr>
          <p:nvPr>
            <p:ph type="body" idx="1"/>
          </p:nvPr>
        </p:nvSpPr>
        <p:spPr>
          <a:xfrm>
            <a:off x="514350" y="4400550"/>
            <a:ext cx="4114800" cy="3600450"/>
          </a:xfrm>
          <a:prstGeom prst="rect">
            <a:avLst/>
          </a:prstGeom>
        </p:spPr>
        <p:txBody>
          <a:bodyPr/>
          <a:lstStyle/>
          <a:p>
            <a:r>
              <a:rPr lang="en-US" b="1" dirty="0"/>
              <a:t>Global Trends (1990–2019)</a:t>
            </a:r>
          </a:p>
          <a:p>
            <a:r>
              <a:rPr lang="en-US" b="1" dirty="0"/>
              <a:t>Key Findings</a:t>
            </a:r>
          </a:p>
          <a:p>
            <a:r>
              <a:rPr lang="en-US" dirty="0"/>
              <a:t>GDP increased</a:t>
            </a:r>
          </a:p>
          <a:p>
            <a:r>
              <a:rPr lang="en-US" dirty="0"/>
              <a:t>Population increased</a:t>
            </a:r>
          </a:p>
          <a:p>
            <a:r>
              <a:rPr lang="en-US" dirty="0"/>
              <a:t>Energy consumption increased</a:t>
            </a:r>
          </a:p>
          <a:p>
            <a:r>
              <a:rPr lang="en-US" dirty="0"/>
              <a:t>Plastic production increased sharply</a:t>
            </a:r>
          </a:p>
          <a:p>
            <a:r>
              <a:rPr lang="en-US" dirty="0"/>
              <a:t>CO₂ emissions continued rising</a:t>
            </a:r>
          </a:p>
          <a:p>
            <a:r>
              <a:rPr lang="en-US" b="1" dirty="0"/>
              <a:t>Important Observation</a:t>
            </a:r>
          </a:p>
          <a:p>
            <a:r>
              <a:rPr lang="en-US" dirty="0"/>
              <a:t>Although energy efficiency improved over time:</a:t>
            </a:r>
          </a:p>
          <a:p>
            <a:r>
              <a:rPr lang="en-US" dirty="0"/>
              <a:t>CO₂ per GDP decreased</a:t>
            </a:r>
          </a:p>
          <a:p>
            <a:r>
              <a:rPr lang="en-US" dirty="0"/>
              <a:t>Energy per GDP decreased</a:t>
            </a:r>
          </a:p>
          <a:p>
            <a:r>
              <a:rPr lang="en-US" dirty="0"/>
              <a:t>…the scale of global growth outweighed these gains.</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
        <p:nvSpPr>
          <p:cNvPr id="5" name="Notes Placeholder 4">
            <a:extLst>
              <a:ext uri="{FF2B5EF4-FFF2-40B4-BE49-F238E27FC236}">
                <a16:creationId xmlns:a16="http://schemas.microsoft.com/office/drawing/2014/main" id="{66CAF043-5A1F-9EB3-E734-805F3967DB1D}"/>
              </a:ext>
            </a:extLst>
          </p:cNvPr>
          <p:cNvSpPr>
            <a:spLocks noGrp="1"/>
          </p:cNvSpPr>
          <p:nvPr>
            <p:ph type="body" idx="1"/>
          </p:nvPr>
        </p:nvSpPr>
        <p:spPr>
          <a:xfrm>
            <a:off x="514350" y="4400550"/>
            <a:ext cx="4114800" cy="3600450"/>
          </a:xfrm>
          <a:prstGeom prst="rect">
            <a:avLst/>
          </a:prstGeom>
        </p:spPr>
        <p:txBody>
          <a:bodyPr/>
          <a:lstStyle/>
          <a:p>
            <a:r>
              <a:rPr lang="en-US" b="1" dirty="0"/>
              <a:t>Country-Level EDA Findings</a:t>
            </a:r>
          </a:p>
          <a:p>
            <a:r>
              <a:rPr lang="en-US" b="1" dirty="0"/>
              <a:t>Major Insights</a:t>
            </a:r>
          </a:p>
          <a:p>
            <a:r>
              <a:rPr lang="en-US" dirty="0"/>
              <a:t>Energy per capita strongly correlated with CO₂ emissions</a:t>
            </a:r>
          </a:p>
          <a:p>
            <a:r>
              <a:rPr lang="en-US" dirty="0"/>
              <a:t>Higher GDP → higher emissions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Larger populations → higher total CO₂ emissions</a:t>
            </a:r>
          </a:p>
          <a:p>
            <a:r>
              <a:rPr lang="en-US" dirty="0"/>
              <a:t>Developed countries show signs of decoupling</a:t>
            </a:r>
          </a:p>
          <a:p>
            <a:r>
              <a:rPr lang="en-US" b="1" dirty="0"/>
              <a:t>Important Observation</a:t>
            </a:r>
          </a:p>
          <a:p>
            <a:r>
              <a:rPr lang="en-US" dirty="0"/>
              <a:t>Some countries stabilized emissions despite economic growth.</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
        <p:nvSpPr>
          <p:cNvPr id="5" name="Notes Placeholder 4">
            <a:extLst>
              <a:ext uri="{FF2B5EF4-FFF2-40B4-BE49-F238E27FC236}">
                <a16:creationId xmlns:a16="http://schemas.microsoft.com/office/drawing/2014/main" id="{2E20E5A9-7A28-0A6B-68AB-B13248A9F363}"/>
              </a:ext>
            </a:extLst>
          </p:cNvPr>
          <p:cNvSpPr>
            <a:spLocks noGrp="1"/>
          </p:cNvSpPr>
          <p:nvPr>
            <p:ph type="body" idx="1"/>
          </p:nvPr>
        </p:nvSpPr>
        <p:spPr>
          <a:xfrm>
            <a:off x="514350" y="4400550"/>
            <a:ext cx="4114800" cy="3600450"/>
          </a:xfrm>
          <a:prstGeom prst="rect">
            <a:avLst/>
          </a:prstGeom>
        </p:spPr>
        <p:txBody>
          <a:bodyPr/>
          <a:lstStyle/>
          <a:p>
            <a:r>
              <a:rPr lang="en-US" b="1" dirty="0"/>
              <a:t>Steps Performed</a:t>
            </a:r>
          </a:p>
          <a:p>
            <a:r>
              <a:rPr lang="en-US" dirty="0"/>
              <a:t>Log transformation of skewed variables</a:t>
            </a:r>
          </a:p>
          <a:p>
            <a:r>
              <a:rPr lang="en-US" dirty="0"/>
              <a:t>Standardization of numerical features</a:t>
            </a:r>
          </a:p>
          <a:p>
            <a:r>
              <a:rPr lang="en-US" dirty="0"/>
              <a:t>Time-aware train/test split</a:t>
            </a:r>
          </a:p>
          <a:p>
            <a:r>
              <a:rPr lang="en-US" dirty="0"/>
              <a:t>PCA analysis for multicollinearity assessment</a:t>
            </a:r>
          </a:p>
          <a:p>
            <a:r>
              <a:rPr lang="en-US" b="1" dirty="0"/>
              <a:t>PCA Outcome</a:t>
            </a:r>
          </a:p>
          <a:p>
            <a:r>
              <a:rPr lang="en-US" dirty="0"/>
              <a:t>PCA was not used because:</a:t>
            </a:r>
          </a:p>
          <a:p>
            <a:r>
              <a:rPr lang="en-US" dirty="0"/>
              <a:t>Only 3 core features existed</a:t>
            </a:r>
          </a:p>
          <a:p>
            <a:r>
              <a:rPr lang="en-US" dirty="0"/>
              <a:t>Multicollinearity was manageable</a:t>
            </a:r>
          </a:p>
          <a:p>
            <a:r>
              <a:rPr lang="en-US" dirty="0"/>
              <a:t>PCA reduced interpretability</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
        <p:nvSpPr>
          <p:cNvPr id="5" name="Notes Placeholder 4">
            <a:extLst>
              <a:ext uri="{FF2B5EF4-FFF2-40B4-BE49-F238E27FC236}">
                <a16:creationId xmlns:a16="http://schemas.microsoft.com/office/drawing/2014/main" id="{99AF3F3F-3A9A-7157-F195-09288E1E2614}"/>
              </a:ext>
            </a:extLst>
          </p:cNvPr>
          <p:cNvSpPr>
            <a:spLocks noGrp="1"/>
          </p:cNvSpPr>
          <p:nvPr>
            <p:ph type="body" idx="1"/>
          </p:nvPr>
        </p:nvSpPr>
        <p:spPr>
          <a:xfrm>
            <a:off x="514350" y="4400550"/>
            <a:ext cx="4114800" cy="3600450"/>
          </a:xfrm>
          <a:prstGeom prst="rect">
            <a:avLst/>
          </a:prstGeom>
        </p:spPr>
        <p:txBody>
          <a:bodyPr/>
          <a:lstStyle/>
          <a:p>
            <a:r>
              <a:rPr lang="en-US" b="1" dirty="0"/>
              <a:t>Modeling Approaches</a:t>
            </a:r>
          </a:p>
          <a:p>
            <a:r>
              <a:rPr lang="en-US" b="1" dirty="0"/>
              <a:t>Target Variables</a:t>
            </a:r>
          </a:p>
          <a:p>
            <a:r>
              <a:rPr lang="en-US" b="1" dirty="0"/>
              <a:t>Strategy 1</a:t>
            </a:r>
          </a:p>
          <a:p>
            <a:r>
              <a:rPr lang="en-US" dirty="0"/>
              <a:t>log_co2</a:t>
            </a:r>
          </a:p>
          <a:p>
            <a:r>
              <a:rPr lang="en-US" b="1" dirty="0"/>
              <a:t>Strategy 2</a:t>
            </a:r>
          </a:p>
          <a:p>
            <a:r>
              <a:rPr lang="en-US" dirty="0"/>
              <a:t>log_co2_per_capita</a:t>
            </a:r>
          </a:p>
          <a:p>
            <a:r>
              <a:rPr lang="en-US" b="1" dirty="0"/>
              <a:t>Models Implemented</a:t>
            </a:r>
          </a:p>
          <a:p>
            <a:pPr lvl="0"/>
            <a:r>
              <a:rPr lang="en-US" sz="1200" kern="1200" dirty="0">
                <a:solidFill>
                  <a:schemeClr val="tx1"/>
                </a:solidFill>
                <a:effectLst/>
                <a:latin typeface="+mn-lt"/>
                <a:ea typeface="+mn-ea"/>
                <a:cs typeface="+mn-cs"/>
              </a:rPr>
              <a:t>Ordinary Least Squares Model (Scaled and Unscaled).</a:t>
            </a:r>
          </a:p>
          <a:p>
            <a:pPr lvl="0"/>
            <a:r>
              <a:rPr lang="en-US" sz="1200" kern="1200" dirty="0">
                <a:solidFill>
                  <a:schemeClr val="tx1"/>
                </a:solidFill>
                <a:effectLst/>
                <a:latin typeface="+mn-lt"/>
                <a:ea typeface="+mn-ea"/>
                <a:cs typeface="+mn-cs"/>
              </a:rPr>
              <a:t>Scaled Ridge Regression Model with Hyperparameter Tuning, Cross Validation &amp; Feature Importance Assessment.</a:t>
            </a:r>
          </a:p>
          <a:p>
            <a:pPr lvl="0"/>
            <a:r>
              <a:rPr lang="en-US" sz="1200" kern="1200" dirty="0">
                <a:solidFill>
                  <a:schemeClr val="tx1"/>
                </a:solidFill>
                <a:effectLst/>
                <a:latin typeface="+mn-lt"/>
                <a:ea typeface="+mn-ea"/>
                <a:cs typeface="+mn-cs"/>
              </a:rPr>
              <a:t>Random Forest Model with Hyperparameter Tuning, Cross Validation &amp; Permutation Importance for Feature Importance Assessment.</a:t>
            </a:r>
          </a:p>
          <a:p>
            <a:r>
              <a:rPr lang="en-US" b="1" dirty="0"/>
              <a:t>Evaluation Metrics</a:t>
            </a:r>
          </a:p>
          <a:p>
            <a:r>
              <a:rPr lang="en-US" dirty="0"/>
              <a:t>R²</a:t>
            </a:r>
          </a:p>
          <a:p>
            <a:r>
              <a:rPr lang="en-US" dirty="0"/>
              <a:t>RMSE</a:t>
            </a:r>
          </a:p>
          <a:p>
            <a:r>
              <a:rPr lang="en-US" dirty="0"/>
              <a:t>MAE</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
        <p:nvSpPr>
          <p:cNvPr id="5" name="Notes Placeholder 4">
            <a:extLst>
              <a:ext uri="{FF2B5EF4-FFF2-40B4-BE49-F238E27FC236}">
                <a16:creationId xmlns:a16="http://schemas.microsoft.com/office/drawing/2014/main" id="{5E139D45-B125-B115-70C7-AC07E8117D27}"/>
              </a:ext>
            </a:extLst>
          </p:cNvPr>
          <p:cNvSpPr>
            <a:spLocks noGrp="1"/>
          </p:cNvSpPr>
          <p:nvPr>
            <p:ph type="body" idx="1"/>
          </p:nvPr>
        </p:nvSpPr>
        <p:spPr>
          <a:xfrm>
            <a:off x="514350" y="4400550"/>
            <a:ext cx="4114800" cy="3600450"/>
          </a:xfrm>
          <a:prstGeom prst="rect">
            <a:avLst/>
          </a:prstGeom>
        </p:spPr>
        <p:txBody>
          <a:bodyPr/>
          <a:lstStyle/>
          <a:p>
            <a:r>
              <a:rPr lang="en-US" b="1" dirty="0"/>
              <a:t>Findings</a:t>
            </a:r>
          </a:p>
          <a:p>
            <a:r>
              <a:rPr lang="en-US" dirty="0"/>
              <a:t>Total CO₂ models achieved higher R²</a:t>
            </a:r>
          </a:p>
          <a:p>
            <a:r>
              <a:rPr lang="en-US" dirty="0"/>
              <a:t>CO₂ per capita models provided better interpretability </a:t>
            </a:r>
          </a:p>
          <a:p>
            <a:r>
              <a:rPr lang="en-US" dirty="0"/>
              <a:t>While total CO₂ emissions capture overall scale, CO₂ per capita provides a more interpretable measure of emissions intensity by normalizing for population, allowing for meaningful comparisons across countries and clearer insights into energy efficiency and sustainability behavior.</a:t>
            </a:r>
          </a:p>
          <a:p>
            <a:endParaRPr lang="en-US" dirty="0"/>
          </a:p>
          <a:p>
            <a:r>
              <a:rPr lang="en-US" dirty="0"/>
              <a:t>Ridge Regression performed best overall</a:t>
            </a:r>
          </a:p>
          <a:p>
            <a:r>
              <a:rPr lang="en-US" b="1" dirty="0"/>
              <a:t>Final Model</a:t>
            </a:r>
          </a:p>
          <a:p>
            <a:r>
              <a:rPr lang="en-US" dirty="0"/>
              <a:t>Ridge Regression (CO₂ per capita)</a:t>
            </a:r>
          </a:p>
          <a:p>
            <a:r>
              <a:rPr lang="en-US" b="1" dirty="0"/>
              <a:t>Why?</a:t>
            </a:r>
          </a:p>
          <a:p>
            <a:r>
              <a:rPr lang="en-US" dirty="0"/>
              <a:t>Stable</a:t>
            </a:r>
          </a:p>
          <a:p>
            <a:r>
              <a:rPr lang="en-US" dirty="0"/>
              <a:t>Interpretable</a:t>
            </a:r>
          </a:p>
          <a:p>
            <a:r>
              <a:rPr lang="en-US" dirty="0"/>
              <a:t>Handles multicollinearity</a:t>
            </a:r>
          </a:p>
          <a:p>
            <a:r>
              <a:rPr lang="en-US" dirty="0"/>
              <a:t>Strong predictive performance</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Key Drivers of CO₂ Emissions</a:t>
            </a:r>
          </a:p>
          <a:p>
            <a:r>
              <a:rPr lang="en-US" b="1" dirty="0"/>
              <a:t>Ridge Regression + Random Forest Results</a:t>
            </a:r>
          </a:p>
          <a:p>
            <a:r>
              <a:rPr lang="en-US" b="1" dirty="0"/>
              <a:t>Strongest Predictor</a:t>
            </a:r>
          </a:p>
          <a:p>
            <a:r>
              <a:rPr lang="en-US" dirty="0"/>
              <a:t>Population for Total CO2 Emissions and</a:t>
            </a:r>
          </a:p>
          <a:p>
            <a:r>
              <a:rPr lang="en-US" dirty="0"/>
              <a:t>Energy Consumption Per Capita for co2_per_capita</a:t>
            </a:r>
          </a:p>
          <a:p>
            <a:r>
              <a:rPr lang="en-US" b="1" dirty="0"/>
              <a:t>Secondary Predictor</a:t>
            </a:r>
          </a:p>
          <a:p>
            <a:r>
              <a:rPr lang="en-US" dirty="0"/>
              <a:t>GDP Per Capita</a:t>
            </a:r>
          </a:p>
          <a:p>
            <a:r>
              <a:rPr lang="en-US" b="1" dirty="0"/>
              <a:t>Lower Influence</a:t>
            </a:r>
          </a:p>
          <a:p>
            <a:r>
              <a:rPr lang="en-US" dirty="0"/>
              <a:t>Country-specific effects</a:t>
            </a:r>
          </a:p>
          <a:p>
            <a:r>
              <a:rPr lang="en-US" b="1" dirty="0"/>
              <a:t>Key Insight</a:t>
            </a:r>
          </a:p>
          <a:p>
            <a:r>
              <a:rPr lang="en-US" dirty="0"/>
              <a:t>Energy usage behavior matters more than economic size alone.</a:t>
            </a:r>
          </a:p>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Key Insight</a:t>
            </a:r>
          </a:p>
          <a:p>
            <a:r>
              <a:rPr lang="en-US" dirty="0"/>
              <a:t>Plastic production increased at a steeper rate than CO₂ emissions.</a:t>
            </a:r>
          </a:p>
          <a:p>
            <a:r>
              <a:rPr lang="en-US" b="1" dirty="0"/>
              <a:t>Interpretation</a:t>
            </a:r>
          </a:p>
          <a:p>
            <a:r>
              <a:rPr lang="en-US" dirty="0"/>
              <a:t>Indicates increasing material intensity in supply chains</a:t>
            </a:r>
          </a:p>
          <a:p>
            <a:r>
              <a:rPr lang="en-US" dirty="0"/>
              <a:t>Suggests growing fossil fuel dependency</a:t>
            </a:r>
          </a:p>
          <a:p>
            <a:r>
              <a:rPr lang="en-US" dirty="0"/>
              <a:t>Adds pressure on global energy demand</a:t>
            </a:r>
          </a:p>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Population drives total emissions</a:t>
            </a:r>
          </a:p>
          <a:p>
            <a:r>
              <a:rPr lang="en-US" dirty="0"/>
              <a:t>Energy drives emissions intensity</a:t>
            </a:r>
          </a:p>
          <a:p>
            <a:r>
              <a:rPr lang="en-US" dirty="0"/>
              <a:t>GDP influences emissions indirectly through energy demand</a:t>
            </a:r>
          </a:p>
          <a:p>
            <a:r>
              <a:rPr lang="en-US" dirty="0"/>
              <a:t>Decoupling exists but is incomplete</a:t>
            </a:r>
          </a:p>
          <a:p>
            <a:r>
              <a:rPr lang="en-US" dirty="0"/>
              <a:t>Plastic-intensive supply chains increase environmental pressure</a:t>
            </a:r>
          </a:p>
        </p:txBody>
      </p:sp>
      <p:sp>
        <p:nvSpPr>
          <p:cNvPr id="4" name="Slide Number Placeholder 3"/>
          <p:cNvSpPr>
            <a:spLocks noGrp="1"/>
          </p:cNvSpPr>
          <p:nvPr>
            <p:ph type="sldNum" sz="quarter" idx="4294967295"/>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Policy</a:t>
            </a:r>
          </a:p>
          <a:p>
            <a:pPr marL="0" indent="0">
              <a:buFont typeface="Arial" panose="020B0604020202020204" pitchFamily="34" charset="0"/>
              <a:buNone/>
            </a:pPr>
            <a:r>
              <a:rPr lang="en-US" dirty="0">
                <a:solidFill>
                  <a:schemeClr val="bg1">
                    <a:lumMod val="75000"/>
                    <a:lumOff val="25000"/>
                  </a:schemeClr>
                </a:solidFill>
              </a:rPr>
              <a:t>Track both CO2 per capita and CO2 Emissions for all major energy intensive industries &amp; processes within a country</a:t>
            </a:r>
          </a:p>
          <a:p>
            <a:r>
              <a:rPr lang="en-US" b="1" dirty="0"/>
              <a:t>Energy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75000"/>
                    <a:lumOff val="25000"/>
                  </a:schemeClr>
                </a:solidFill>
              </a:rPr>
              <a:t>Invest in energy efficient technologies</a:t>
            </a:r>
          </a:p>
          <a:p>
            <a:r>
              <a:rPr lang="en-US" b="1" dirty="0"/>
              <a:t>Such as…</a:t>
            </a:r>
          </a:p>
          <a:p>
            <a:r>
              <a:rPr lang="en-US" dirty="0"/>
              <a:t>renewable energy</a:t>
            </a:r>
          </a:p>
          <a:p>
            <a:r>
              <a:rPr lang="en-US" dirty="0"/>
              <a:t>Electrifying supply chains</a:t>
            </a:r>
          </a:p>
          <a:p>
            <a:r>
              <a:rPr lang="en-US" b="1" dirty="0"/>
              <a:t>Plastics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Improve recycling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Improve Supply Chain sustainability and reporting</a:t>
            </a:r>
            <a:endParaRPr lang="en-US" b="1" dirty="0"/>
          </a:p>
          <a:p>
            <a:r>
              <a:rPr lang="en-US" dirty="0"/>
              <a:t>Reduce virgin plastic dependency</a:t>
            </a:r>
          </a:p>
          <a:p>
            <a:r>
              <a:rPr lang="en-US" dirty="0"/>
              <a:t>Promote circular economy practices</a:t>
            </a:r>
          </a:p>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Potential Improvements</a:t>
            </a:r>
          </a:p>
          <a:p>
            <a:r>
              <a:rPr lang="en-US" dirty="0"/>
              <a:t>Add country-level plastics data</a:t>
            </a:r>
          </a:p>
          <a:p>
            <a:r>
              <a:rPr lang="en-US" dirty="0"/>
              <a:t>Include renewable energy indicators</a:t>
            </a:r>
          </a:p>
          <a:p>
            <a:r>
              <a:rPr lang="en-US" dirty="0"/>
              <a:t>Apply panel regression models</a:t>
            </a:r>
          </a:p>
          <a:p>
            <a:r>
              <a:rPr lang="en-US" dirty="0"/>
              <a:t>Build forecasting dashboard</a:t>
            </a:r>
          </a:p>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Conclusion</a:t>
            </a:r>
          </a:p>
          <a:p>
            <a:r>
              <a:rPr lang="en-US" dirty="0"/>
              <a:t>This study demonstrates that energy consumption per capita is the strongest driver of emissions intensity globally.</a:t>
            </a:r>
          </a:p>
          <a:p>
            <a:r>
              <a:rPr lang="en-US" dirty="0"/>
              <a:t>While efficiency gains have improved over time, the rapid expansion of plastic-intensive supply chains continues to increase environmental pressure.</a:t>
            </a:r>
          </a:p>
          <a:p>
            <a:r>
              <a:rPr lang="en-US" b="1" dirty="0"/>
              <a:t>Final Insight</a:t>
            </a:r>
          </a:p>
          <a:p>
            <a:r>
              <a:rPr lang="en-US" dirty="0"/>
              <a:t>Sustainable climate action will require not only cleaner energy systems, but also a reduction in the material intensity of global supply chains.</a:t>
            </a:r>
          </a:p>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7780958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5255612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164886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390598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5337284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599348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9270698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436164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184656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332845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375766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4776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5/12/2026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287982375"/>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video" Target="https://www.youtube.com/embed/I4QNolP7Khc?feature=oembed" TargetMode="External"/><Relationship Id="rId6" Type="http://schemas.openxmlformats.org/officeDocument/2006/relationships/image" Target="../media/image3.jpeg"/><Relationship Id="rId5" Type="http://schemas.openxmlformats.org/officeDocument/2006/relationships/hyperlink" Target="https://www.youtube.com/watch?v=I4QNolP7Khc"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hyperlink" Target="https://ourworldindata.org/grapher/global-plastics-production?utm_source=chatgpt.com" TargetMode="External"/><Relationship Id="rId3" Type="http://schemas.openxmlformats.org/officeDocument/2006/relationships/image" Target="../media/image6.jpg"/><Relationship Id="rId7" Type="http://schemas.openxmlformats.org/officeDocument/2006/relationships/hyperlink" Target="https://ourworldindata.org/grapher/global-plastics-production"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hyperlink" Target="https://github.com/owid/co2-data?utm_source=chatgpt.com" TargetMode="External"/><Relationship Id="rId5" Type="http://schemas.openxmlformats.org/officeDocument/2006/relationships/hyperlink" Target="https://raw.githubusercontent.com/owid/co2-data/master/owid-co2-data.csv" TargetMode="External"/><Relationship Id="rId4" Type="http://schemas.openxmlformats.org/officeDocument/2006/relationships/hyperlink" Target="https://ourworldindata.or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hyperlink" Target="https://github.com/gawandesailee-lab/learndsp/blob/main/Data%20Science%20Capstone%202%20Project/reports/Data%20Science%20Capstone%202%20Project%20Report.pdf" TargetMode="External"/><Relationship Id="rId5" Type="http://schemas.openxmlformats.org/officeDocument/2006/relationships/hyperlink" Target="http://www.linkedin.com/in/saileegawande" TargetMode="External"/><Relationship Id="rId4" Type="http://schemas.openxmlformats.org/officeDocument/2006/relationships/hyperlink" Target="mailto:gawandesailee@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alphaModFix amt="48000"/>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5484EF-5C7C-D4D3-7A82-89DF920BF81D}"/>
              </a:ext>
            </a:extLst>
          </p:cNvPr>
          <p:cNvSpPr txBox="1"/>
          <p:nvPr/>
        </p:nvSpPr>
        <p:spPr>
          <a:xfrm>
            <a:off x="175364" y="187890"/>
            <a:ext cx="7177414" cy="1846659"/>
          </a:xfrm>
          <a:prstGeom prst="rect">
            <a:avLst/>
          </a:prstGeom>
          <a:noFill/>
        </p:spPr>
        <p:txBody>
          <a:bodyPr wrap="square" rtlCol="0">
            <a:spAutoFit/>
          </a:bodyPr>
          <a:lstStyle/>
          <a:p>
            <a:r>
              <a:rPr lang="en-US" sz="3200" b="1" dirty="0">
                <a:solidFill>
                  <a:schemeClr val="bg1">
                    <a:lumMod val="75000"/>
                    <a:lumOff val="25000"/>
                  </a:schemeClr>
                </a:solidFill>
                <a:latin typeface="+mj-lt"/>
              </a:rPr>
              <a:t>Understanding the Impact of Economic, Demographic, Energy Factors &amp; Plastics on Global Warming</a:t>
            </a:r>
          </a:p>
          <a:p>
            <a:endParaRPr lang="en-US" dirty="0"/>
          </a:p>
        </p:txBody>
      </p:sp>
      <p:sp>
        <p:nvSpPr>
          <p:cNvPr id="3" name="TextBox 2">
            <a:extLst>
              <a:ext uri="{FF2B5EF4-FFF2-40B4-BE49-F238E27FC236}">
                <a16:creationId xmlns:a16="http://schemas.microsoft.com/office/drawing/2014/main" id="{15467C36-28DC-691C-75A9-12823D9EF956}"/>
              </a:ext>
            </a:extLst>
          </p:cNvPr>
          <p:cNvSpPr txBox="1"/>
          <p:nvPr/>
        </p:nvSpPr>
        <p:spPr>
          <a:xfrm>
            <a:off x="175364" y="2034549"/>
            <a:ext cx="3800079" cy="923330"/>
          </a:xfrm>
          <a:prstGeom prst="rect">
            <a:avLst/>
          </a:prstGeom>
          <a:noFill/>
        </p:spPr>
        <p:txBody>
          <a:bodyPr wrap="none" rtlCol="0">
            <a:spAutoFit/>
          </a:bodyPr>
          <a:lstStyle/>
          <a:p>
            <a:r>
              <a:rPr lang="en-US" i="1" dirty="0">
                <a:solidFill>
                  <a:schemeClr val="bg1">
                    <a:lumMod val="75000"/>
                    <a:lumOff val="25000"/>
                  </a:schemeClr>
                </a:solidFill>
              </a:rPr>
              <a:t>Springboard Capstone II Project Report</a:t>
            </a:r>
            <a:endParaRPr lang="en-US" dirty="0">
              <a:solidFill>
                <a:schemeClr val="bg1">
                  <a:lumMod val="75000"/>
                  <a:lumOff val="25000"/>
                </a:schemeClr>
              </a:solidFill>
            </a:endParaRPr>
          </a:p>
          <a:p>
            <a:r>
              <a:rPr lang="en-US" i="1" dirty="0">
                <a:solidFill>
                  <a:schemeClr val="bg1">
                    <a:lumMod val="75000"/>
                    <a:lumOff val="25000"/>
                  </a:schemeClr>
                </a:solidFill>
              </a:rPr>
              <a:t>Sailee Gawande</a:t>
            </a:r>
            <a:endParaRPr lang="en-US" dirty="0">
              <a:solidFill>
                <a:schemeClr val="bg1">
                  <a:lumMod val="75000"/>
                  <a:lumOff val="25000"/>
                </a:schemeClr>
              </a:solidFill>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35000"/>
            <a:lum/>
          </a:blip>
          <a:srcRect/>
          <a:stretch>
            <a:fillRect t="-17000" b="-17000"/>
          </a:stretch>
        </a:blipFill>
        <a:effectLst/>
      </p:bgPr>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DCD4CC06-BB72-EB39-018A-D3475EA39E13}"/>
              </a:ext>
            </a:extLst>
          </p:cNvPr>
          <p:cNvSpPr txBox="1"/>
          <p:nvPr/>
        </p:nvSpPr>
        <p:spPr>
          <a:xfrm>
            <a:off x="3155586" y="98419"/>
            <a:ext cx="2832827" cy="584775"/>
          </a:xfrm>
          <a:prstGeom prst="rect">
            <a:avLst/>
          </a:prstGeom>
          <a:noFill/>
        </p:spPr>
        <p:txBody>
          <a:bodyPr wrap="none" rtlCol="0">
            <a:spAutoFit/>
          </a:bodyPr>
          <a:lstStyle/>
          <a:p>
            <a:pPr algn="ctr"/>
            <a:r>
              <a:rPr lang="en-US" sz="3200" dirty="0">
                <a:solidFill>
                  <a:schemeClr val="bg1"/>
                </a:solidFill>
              </a:rPr>
              <a:t>Plastic Pollution</a:t>
            </a:r>
          </a:p>
        </p:txBody>
      </p:sp>
      <p:sp>
        <p:nvSpPr>
          <p:cNvPr id="26" name="TextBox 25">
            <a:extLst>
              <a:ext uri="{FF2B5EF4-FFF2-40B4-BE49-F238E27FC236}">
                <a16:creationId xmlns:a16="http://schemas.microsoft.com/office/drawing/2014/main" id="{034DA7C4-CC65-87E3-3004-2D54382B9E88}"/>
              </a:ext>
            </a:extLst>
          </p:cNvPr>
          <p:cNvSpPr txBox="1"/>
          <p:nvPr/>
        </p:nvSpPr>
        <p:spPr>
          <a:xfrm>
            <a:off x="2126554" y="2016690"/>
            <a:ext cx="4890891" cy="369332"/>
          </a:xfrm>
          <a:prstGeom prst="rect">
            <a:avLst/>
          </a:prstGeom>
          <a:noFill/>
        </p:spPr>
        <p:txBody>
          <a:bodyPr wrap="none" rtlCol="0">
            <a:spAutoFit/>
          </a:bodyPr>
          <a:lstStyle/>
          <a:p>
            <a:r>
              <a:rPr lang="en-US">
                <a:hlinkClick r:id="rId5"/>
              </a:rPr>
              <a:t>https://www.youtube.com/watch?v=I4QNolP7Khc</a:t>
            </a:r>
            <a:endParaRPr lang="en-US" dirty="0"/>
          </a:p>
        </p:txBody>
      </p:sp>
      <p:pic>
        <p:nvPicPr>
          <p:cNvPr id="28" name="Online Media 27" title="Albatrosses are ingesting plastic - Blue Planet II: Episode 7 Preview - BBC">
            <a:hlinkClick r:id="" action="ppaction://media"/>
            <a:extLst>
              <a:ext uri="{FF2B5EF4-FFF2-40B4-BE49-F238E27FC236}">
                <a16:creationId xmlns:a16="http://schemas.microsoft.com/office/drawing/2014/main" id="{52B3D5B2-9E58-E58D-E9FE-3ECB5CCBED51}"/>
              </a:ext>
            </a:extLst>
          </p:cNvPr>
          <p:cNvPicPr>
            <a:picLocks noRot="1" noChangeAspect="1"/>
          </p:cNvPicPr>
          <p:nvPr>
            <a:videoFile r:link="rId1"/>
          </p:nvPr>
        </p:nvPicPr>
        <p:blipFill>
          <a:blip r:embed="rId6"/>
          <a:stretch>
            <a:fillRect/>
          </a:stretch>
        </p:blipFill>
        <p:spPr>
          <a:xfrm>
            <a:off x="19050" y="0"/>
            <a:ext cx="9104313"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8"/>
                </p:tgtEl>
              </p:cMediaNode>
            </p:video>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8"/>
                                        </p:tgtEl>
                                      </p:cBhvr>
                                    </p:cmd>
                                  </p:childTnLst>
                                </p:cTn>
                              </p:par>
                            </p:childTnLst>
                          </p:cTn>
                        </p:par>
                      </p:childTnLst>
                    </p:cTn>
                  </p:par>
                </p:childTnLst>
              </p:cTn>
              <p:nextCondLst>
                <p:cond evt="onClick" delay="0">
                  <p:tgtEl>
                    <p:spTgt spid="28"/>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9000"/>
            <a:lum/>
          </a:blip>
          <a:srcRect/>
          <a:stretch>
            <a:fillRect t="-9000" b="-9000"/>
          </a:stretch>
        </a:blip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2A732F4-152F-BE1B-95F5-AAD52A3D1473}"/>
              </a:ext>
            </a:extLst>
          </p:cNvPr>
          <p:cNvSpPr txBox="1"/>
          <p:nvPr/>
        </p:nvSpPr>
        <p:spPr>
          <a:xfrm>
            <a:off x="628650" y="417891"/>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This continues to be a problem because…..</a:t>
            </a:r>
          </a:p>
        </p:txBody>
      </p:sp>
      <p:graphicFrame>
        <p:nvGraphicFramePr>
          <p:cNvPr id="12" name="TextBox 9">
            <a:extLst>
              <a:ext uri="{FF2B5EF4-FFF2-40B4-BE49-F238E27FC236}">
                <a16:creationId xmlns:a16="http://schemas.microsoft.com/office/drawing/2014/main" id="{209F547C-AE76-DB71-DB51-10B927A20510}"/>
              </a:ext>
            </a:extLst>
          </p:cNvPr>
          <p:cNvGraphicFramePr/>
          <p:nvPr>
            <p:extLst>
              <p:ext uri="{D42A27DB-BD31-4B8C-83A1-F6EECF244321}">
                <p14:modId xmlns:p14="http://schemas.microsoft.com/office/powerpoint/2010/main" val="627912733"/>
              </p:ext>
            </p:extLst>
          </p:nvPr>
        </p:nvGraphicFramePr>
        <p:xfrm>
          <a:off x="628650" y="1371600"/>
          <a:ext cx="7886700" cy="32644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A22A33E-7CAB-C959-F84D-4FFB51584EA4}"/>
              </a:ext>
            </a:extLst>
          </p:cNvPr>
          <p:cNvSpPr txBox="1"/>
          <p:nvPr/>
        </p:nvSpPr>
        <p:spPr>
          <a:xfrm>
            <a:off x="2914206" y="263047"/>
            <a:ext cx="3315588" cy="584775"/>
          </a:xfrm>
          <a:prstGeom prst="rect">
            <a:avLst/>
          </a:prstGeom>
          <a:noFill/>
        </p:spPr>
        <p:txBody>
          <a:bodyPr wrap="none" rtlCol="0">
            <a:spAutoFit/>
          </a:bodyPr>
          <a:lstStyle/>
          <a:p>
            <a:r>
              <a:rPr lang="en-US" sz="3200" b="1">
                <a:solidFill>
                  <a:schemeClr val="bg1">
                    <a:lumMod val="75000"/>
                    <a:lumOff val="25000"/>
                  </a:schemeClr>
                </a:solidFill>
                <a:latin typeface="+mj-lt"/>
              </a:rPr>
              <a:t>Problem Statement</a:t>
            </a:r>
            <a:endParaRPr lang="en-US" sz="3200" b="1" dirty="0">
              <a:solidFill>
                <a:schemeClr val="bg1">
                  <a:lumMod val="75000"/>
                  <a:lumOff val="25000"/>
                </a:schemeClr>
              </a:solidFill>
              <a:latin typeface="+mj-lt"/>
            </a:endParaRPr>
          </a:p>
        </p:txBody>
      </p:sp>
      <p:pic>
        <p:nvPicPr>
          <p:cNvPr id="22" name="Picture 21">
            <a:extLst>
              <a:ext uri="{FF2B5EF4-FFF2-40B4-BE49-F238E27FC236}">
                <a16:creationId xmlns:a16="http://schemas.microsoft.com/office/drawing/2014/main" id="{2DC90830-0315-0FF4-4DF0-78131DA669E1}"/>
              </a:ext>
            </a:extLst>
          </p:cNvPr>
          <p:cNvPicPr>
            <a:picLocks noChangeAspect="1"/>
          </p:cNvPicPr>
          <p:nvPr/>
        </p:nvPicPr>
        <p:blipFill>
          <a:blip r:embed="rId3"/>
          <a:srcRect l="4001" t="10217" r="4347" b="6990"/>
          <a:stretch>
            <a:fillRect/>
          </a:stretch>
        </p:blipFill>
        <p:spPr>
          <a:xfrm>
            <a:off x="0" y="1567"/>
            <a:ext cx="9144000" cy="5141933"/>
          </a:xfrm>
          <a:prstGeom prst="rect">
            <a:avLst/>
          </a:prstGeom>
        </p:spPr>
      </p:pic>
      <p:sp>
        <p:nvSpPr>
          <p:cNvPr id="23" name="TextBox 22">
            <a:extLst>
              <a:ext uri="{FF2B5EF4-FFF2-40B4-BE49-F238E27FC236}">
                <a16:creationId xmlns:a16="http://schemas.microsoft.com/office/drawing/2014/main" id="{B9A8F40E-7655-3C86-1EB2-3272E7BE0289}"/>
              </a:ext>
            </a:extLst>
          </p:cNvPr>
          <p:cNvSpPr txBox="1"/>
          <p:nvPr/>
        </p:nvSpPr>
        <p:spPr>
          <a:xfrm>
            <a:off x="2914206" y="133524"/>
            <a:ext cx="3315588" cy="584775"/>
          </a:xfrm>
          <a:prstGeom prst="rect">
            <a:avLst/>
          </a:prstGeom>
          <a:noFill/>
        </p:spPr>
        <p:txBody>
          <a:bodyPr wrap="none" rtlCol="0">
            <a:spAutoFit/>
          </a:bodyPr>
          <a:lstStyle/>
          <a:p>
            <a:r>
              <a:rPr lang="en-US" sz="3200" b="1" dirty="0">
                <a:solidFill>
                  <a:srgbClr val="002060"/>
                </a:solidFill>
                <a:latin typeface="+mj-lt"/>
              </a:rPr>
              <a:t>Problem 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0ECCEA7-F83B-8A58-0C7E-9E107984B1BE}"/>
              </a:ext>
            </a:extLst>
          </p:cNvPr>
          <p:cNvSpPr txBox="1"/>
          <p:nvPr/>
        </p:nvSpPr>
        <p:spPr>
          <a:xfrm>
            <a:off x="628650" y="417891"/>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dirty="0">
                <a:solidFill>
                  <a:schemeClr val="bg1">
                    <a:lumMod val="75000"/>
                    <a:lumOff val="25000"/>
                  </a:schemeClr>
                </a:solidFill>
                <a:latin typeface="+mj-lt"/>
                <a:ea typeface="+mj-ea"/>
                <a:cs typeface="+mj-cs"/>
              </a:rPr>
              <a:t>Analysis Objectives</a:t>
            </a:r>
            <a:endParaRPr lang="en-US" sz="3200" b="1" kern="1200" dirty="0">
              <a:solidFill>
                <a:schemeClr val="bg1">
                  <a:lumMod val="75000"/>
                  <a:lumOff val="25000"/>
                </a:schemeClr>
              </a:solidFill>
              <a:latin typeface="+mj-lt"/>
              <a:ea typeface="+mj-ea"/>
              <a:cs typeface="+mj-cs"/>
            </a:endParaRPr>
          </a:p>
        </p:txBody>
      </p:sp>
      <p:sp>
        <p:nvSpPr>
          <p:cNvPr id="10" name="TextBox 9">
            <a:extLst>
              <a:ext uri="{FF2B5EF4-FFF2-40B4-BE49-F238E27FC236}">
                <a16:creationId xmlns:a16="http://schemas.microsoft.com/office/drawing/2014/main" id="{4E3ED43F-4C26-669D-2299-5602A6922B83}"/>
              </a:ext>
            </a:extLst>
          </p:cNvPr>
          <p:cNvSpPr txBox="1"/>
          <p:nvPr/>
        </p:nvSpPr>
        <p:spPr>
          <a:xfrm>
            <a:off x="925975" y="1648420"/>
            <a:ext cx="7292049" cy="1846659"/>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bg1">
                    <a:lumMod val="75000"/>
                    <a:lumOff val="25000"/>
                  </a:schemeClr>
                </a:solidFill>
              </a:rPr>
              <a:t>Identify Key Drivers of CO2 Emissions</a:t>
            </a:r>
          </a:p>
          <a:p>
            <a:pPr marL="285750" indent="-285750">
              <a:buFont typeface="Arial" panose="020B0604020202020204" pitchFamily="34" charset="0"/>
              <a:buChar char="•"/>
            </a:pPr>
            <a:r>
              <a:rPr lang="en-US" sz="2400" dirty="0">
                <a:solidFill>
                  <a:schemeClr val="bg1">
                    <a:lumMod val="75000"/>
                    <a:lumOff val="25000"/>
                  </a:schemeClr>
                </a:solidFill>
              </a:rPr>
              <a:t>Compare Total CO2 Emissions Vs. CO2 Per Capita</a:t>
            </a:r>
          </a:p>
          <a:p>
            <a:pPr marL="285750" indent="-285750">
              <a:buFont typeface="Arial" panose="020B0604020202020204" pitchFamily="34" charset="0"/>
              <a:buChar char="•"/>
            </a:pPr>
            <a:r>
              <a:rPr lang="en-US" sz="2400" dirty="0">
                <a:solidFill>
                  <a:schemeClr val="bg1">
                    <a:lumMod val="75000"/>
                    <a:lumOff val="25000"/>
                  </a:schemeClr>
                </a:solidFill>
              </a:rPr>
              <a:t>Contextualize Findings within Rising Plastics Production</a:t>
            </a:r>
          </a:p>
          <a:p>
            <a:pPr marL="285750" indent="-285750">
              <a:buFont typeface="Arial" panose="020B0604020202020204" pitchFamily="34" charset="0"/>
              <a:buChar char="•"/>
            </a:pPr>
            <a:r>
              <a:rPr lang="en-US" sz="2400" dirty="0">
                <a:solidFill>
                  <a:schemeClr val="bg1">
                    <a:lumMod val="75000"/>
                    <a:lumOff val="25000"/>
                  </a:schemeClr>
                </a:solidFill>
              </a:rPr>
              <a:t>Develop Predictive Machine Learning Models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D2D38F8E-36C6-0359-2290-F6B0A17EE35A}"/>
              </a:ext>
            </a:extLst>
          </p:cNvPr>
          <p:cNvSpPr txBox="1"/>
          <p:nvPr/>
        </p:nvSpPr>
        <p:spPr>
          <a:xfrm>
            <a:off x="628650" y="417891"/>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dirty="0">
                <a:solidFill>
                  <a:schemeClr val="bg1">
                    <a:lumMod val="75000"/>
                    <a:lumOff val="25000"/>
                  </a:schemeClr>
                </a:solidFill>
                <a:latin typeface="+mj-lt"/>
                <a:ea typeface="+mj-ea"/>
                <a:cs typeface="+mj-cs"/>
              </a:rPr>
              <a:t>Datasets Used</a:t>
            </a:r>
            <a:endParaRPr lang="en-US" sz="3200" b="1" kern="1200" dirty="0">
              <a:solidFill>
                <a:schemeClr val="bg1">
                  <a:lumMod val="75000"/>
                  <a:lumOff val="25000"/>
                </a:schemeClr>
              </a:solidFill>
              <a:latin typeface="+mj-lt"/>
              <a:ea typeface="+mj-ea"/>
              <a:cs typeface="+mj-cs"/>
            </a:endParaRPr>
          </a:p>
        </p:txBody>
      </p:sp>
      <p:sp>
        <p:nvSpPr>
          <p:cNvPr id="17" name="TextBox 16">
            <a:extLst>
              <a:ext uri="{FF2B5EF4-FFF2-40B4-BE49-F238E27FC236}">
                <a16:creationId xmlns:a16="http://schemas.microsoft.com/office/drawing/2014/main" id="{3E5C8E1A-A106-310D-2DCF-AD3714B1A13F}"/>
              </a:ext>
            </a:extLst>
          </p:cNvPr>
          <p:cNvSpPr txBox="1"/>
          <p:nvPr/>
        </p:nvSpPr>
        <p:spPr>
          <a:xfrm>
            <a:off x="925975" y="1268015"/>
            <a:ext cx="7292049" cy="3477875"/>
          </a:xfrm>
          <a:prstGeom prst="rect">
            <a:avLst/>
          </a:prstGeom>
          <a:noFill/>
        </p:spPr>
        <p:txBody>
          <a:bodyPr wrap="square" rtlCol="0">
            <a:spAutoFit/>
          </a:bodyPr>
          <a:lstStyle/>
          <a:p>
            <a:r>
              <a:rPr lang="en-US" dirty="0">
                <a:solidFill>
                  <a:schemeClr val="bg1">
                    <a:lumMod val="75000"/>
                    <a:lumOff val="25000"/>
                  </a:schemeClr>
                </a:solidFill>
              </a:rPr>
              <a:t>The data was acquired from </a:t>
            </a:r>
            <a:r>
              <a:rPr lang="en-US" u="sng" dirty="0">
                <a:hlinkClick r:id="rId4"/>
              </a:rPr>
              <a:t>https://ourworldindata.org/</a:t>
            </a:r>
            <a:r>
              <a:rPr lang="en-US" dirty="0"/>
              <a:t> </a:t>
            </a:r>
            <a:endParaRPr lang="en-US" sz="2400" dirty="0"/>
          </a:p>
          <a:p>
            <a:endParaRPr lang="en-US" sz="2400" dirty="0"/>
          </a:p>
          <a:p>
            <a:r>
              <a:rPr lang="en-US" sz="2000" b="1" u="sng" dirty="0">
                <a:solidFill>
                  <a:schemeClr val="bg1">
                    <a:lumMod val="75000"/>
                    <a:lumOff val="25000"/>
                  </a:schemeClr>
                </a:solidFill>
                <a:latin typeface="+mj-lt"/>
              </a:rPr>
              <a:t>1. Carbon Emissions Data (Country Year Level)</a:t>
            </a:r>
            <a:endParaRPr lang="en-US" sz="2000" b="1" dirty="0">
              <a:solidFill>
                <a:schemeClr val="bg1">
                  <a:lumMod val="75000"/>
                  <a:lumOff val="25000"/>
                </a:schemeClr>
              </a:solidFill>
              <a:latin typeface="+mj-lt"/>
            </a:endParaRPr>
          </a:p>
          <a:p>
            <a:r>
              <a:rPr lang="en-US" u="sng" dirty="0">
                <a:hlinkClick r:id="rId5"/>
              </a:rPr>
              <a:t>https://raw.githubusercontent.com/owid/co2-data/master/owid-co2-data.csv</a:t>
            </a:r>
            <a:endParaRPr lang="en-US" sz="2400" dirty="0"/>
          </a:p>
          <a:p>
            <a:r>
              <a:rPr lang="en-US" sz="1200" dirty="0">
                <a:solidFill>
                  <a:schemeClr val="bg1">
                    <a:lumMod val="75000"/>
                    <a:lumOff val="25000"/>
                  </a:schemeClr>
                </a:solidFill>
              </a:rPr>
              <a:t>Citation : Our World in Data. </a:t>
            </a:r>
            <a:r>
              <a:rPr lang="en-US" sz="1200" i="1" dirty="0">
                <a:solidFill>
                  <a:schemeClr val="bg1">
                    <a:lumMod val="75000"/>
                    <a:lumOff val="25000"/>
                  </a:schemeClr>
                </a:solidFill>
              </a:rPr>
              <a:t>CO₂ and Greenhouse Gas Emissions</a:t>
            </a:r>
            <a:r>
              <a:rPr lang="en-US" sz="1200" dirty="0">
                <a:solidFill>
                  <a:schemeClr val="bg1">
                    <a:lumMod val="75000"/>
                    <a:lumOff val="25000"/>
                  </a:schemeClr>
                </a:solidFill>
              </a:rPr>
              <a:t> [dataset]. Data adapted from the Global Carbon Project. Retrieved from</a:t>
            </a:r>
            <a:r>
              <a:rPr lang="en-US" sz="1200" dirty="0">
                <a:solidFill>
                  <a:schemeClr val="bg1">
                    <a:lumMod val="75000"/>
                    <a:lumOff val="25000"/>
                  </a:schemeClr>
                </a:solidFill>
                <a:hlinkClick r:id="rId6">
                  <a:extLst>
                    <a:ext uri="{A12FA001-AC4F-418D-AE19-62706E023703}">
                      <ahyp:hlinkClr xmlns:ahyp="http://schemas.microsoft.com/office/drawing/2018/hyperlinkcolor" val="tx"/>
                    </a:ext>
                  </a:extLst>
                </a:hlinkClick>
              </a:rPr>
              <a:t> </a:t>
            </a:r>
            <a:r>
              <a:rPr lang="en-US" sz="1200" u="sng" dirty="0">
                <a:solidFill>
                  <a:srgbClr val="0563C1"/>
                </a:solidFill>
                <a:hlinkClick r:id="rId6">
                  <a:extLst>
                    <a:ext uri="{A12FA001-AC4F-418D-AE19-62706E023703}">
                      <ahyp:hlinkClr xmlns:ahyp="http://schemas.microsoft.com/office/drawing/2018/hyperlinkcolor" val="tx"/>
                    </a:ext>
                  </a:extLst>
                </a:hlinkClick>
              </a:rPr>
              <a:t>https://github.com/owid/co2-data</a:t>
            </a:r>
            <a:r>
              <a:rPr lang="en-US" sz="1200" dirty="0"/>
              <a:t> </a:t>
            </a:r>
            <a:r>
              <a:rPr lang="en-US" sz="1200" dirty="0">
                <a:solidFill>
                  <a:schemeClr val="bg1">
                    <a:lumMod val="75000"/>
                    <a:lumOff val="25000"/>
                  </a:schemeClr>
                </a:solidFill>
              </a:rPr>
              <a:t>(accessed 2026).</a:t>
            </a:r>
          </a:p>
          <a:p>
            <a:endParaRPr lang="en-US" sz="2400" dirty="0"/>
          </a:p>
          <a:p>
            <a:r>
              <a:rPr lang="en-US" sz="2000" b="1" u="sng" dirty="0">
                <a:solidFill>
                  <a:schemeClr val="bg1">
                    <a:lumMod val="75000"/>
                    <a:lumOff val="25000"/>
                  </a:schemeClr>
                </a:solidFill>
                <a:latin typeface="+mj-lt"/>
              </a:rPr>
              <a:t>2. Global Plastics Production Data (Global Year Level)</a:t>
            </a:r>
            <a:endParaRPr lang="en-US" sz="2000" b="1" dirty="0">
              <a:solidFill>
                <a:schemeClr val="bg1">
                  <a:lumMod val="75000"/>
                  <a:lumOff val="25000"/>
                </a:schemeClr>
              </a:solidFill>
              <a:latin typeface="+mj-lt"/>
            </a:endParaRPr>
          </a:p>
          <a:p>
            <a:r>
              <a:rPr lang="en-US" u="sng" dirty="0">
                <a:hlinkClick r:id="rId7"/>
              </a:rPr>
              <a:t>https://ourworldindata.org/grapher/global-plastics-production</a:t>
            </a:r>
            <a:endParaRPr lang="en-US" sz="2400" dirty="0"/>
          </a:p>
          <a:p>
            <a:r>
              <a:rPr lang="en-US" sz="1200" dirty="0">
                <a:solidFill>
                  <a:schemeClr val="bg1">
                    <a:lumMod val="75000"/>
                    <a:lumOff val="25000"/>
                  </a:schemeClr>
                </a:solidFill>
              </a:rPr>
              <a:t>Citation :Geyer, R., </a:t>
            </a:r>
            <a:r>
              <a:rPr lang="en-US" sz="1200" dirty="0" err="1">
                <a:solidFill>
                  <a:schemeClr val="bg1">
                    <a:lumMod val="75000"/>
                    <a:lumOff val="25000"/>
                  </a:schemeClr>
                </a:solidFill>
              </a:rPr>
              <a:t>Jambeck</a:t>
            </a:r>
            <a:r>
              <a:rPr lang="en-US" sz="1200" dirty="0">
                <a:solidFill>
                  <a:schemeClr val="bg1">
                    <a:lumMod val="75000"/>
                    <a:lumOff val="25000"/>
                  </a:schemeClr>
                </a:solidFill>
              </a:rPr>
              <a:t>, J., and Law, K. (2017) – with processing by Our World in Data. </a:t>
            </a:r>
            <a:r>
              <a:rPr lang="en-US" sz="1200" i="1" dirty="0">
                <a:solidFill>
                  <a:schemeClr val="bg1">
                    <a:lumMod val="75000"/>
                    <a:lumOff val="25000"/>
                  </a:schemeClr>
                </a:solidFill>
              </a:rPr>
              <a:t>Global plastics production</a:t>
            </a:r>
            <a:r>
              <a:rPr lang="en-US" sz="1200" dirty="0">
                <a:solidFill>
                  <a:schemeClr val="bg1">
                    <a:lumMod val="75000"/>
                    <a:lumOff val="25000"/>
                  </a:schemeClr>
                </a:solidFill>
              </a:rPr>
              <a:t> [dataset]. Retrieved from</a:t>
            </a:r>
            <a:r>
              <a:rPr lang="en-US" sz="1200" dirty="0">
                <a:solidFill>
                  <a:schemeClr val="bg1">
                    <a:lumMod val="75000"/>
                    <a:lumOff val="25000"/>
                  </a:schemeClr>
                </a:solidFill>
                <a:hlinkClick r:id="rId8">
                  <a:extLst>
                    <a:ext uri="{A12FA001-AC4F-418D-AE19-62706E023703}">
                      <ahyp:hlinkClr xmlns:ahyp="http://schemas.microsoft.com/office/drawing/2018/hyperlinkcolor" val="tx"/>
                    </a:ext>
                  </a:extLst>
                </a:hlinkClick>
              </a:rPr>
              <a:t> </a:t>
            </a:r>
            <a:r>
              <a:rPr lang="en-US" sz="1200" u="sng" dirty="0">
                <a:solidFill>
                  <a:srgbClr val="0563C1"/>
                </a:solidFill>
                <a:hlinkClick r:id="rId8">
                  <a:extLst>
                    <a:ext uri="{A12FA001-AC4F-418D-AE19-62706E023703}">
                      <ahyp:hlinkClr xmlns:ahyp="http://schemas.microsoft.com/office/drawing/2018/hyperlinkcolor" val="tx"/>
                    </a:ext>
                  </a:extLst>
                </a:hlinkClick>
              </a:rPr>
              <a:t>https://ourworldindata.org/grapher/global-plastics-production</a:t>
            </a:r>
            <a:r>
              <a:rPr lang="en-US" sz="1200" dirty="0"/>
              <a:t> </a:t>
            </a:r>
            <a:r>
              <a:rPr lang="en-US" sz="1200" dirty="0">
                <a:solidFill>
                  <a:schemeClr val="bg1">
                    <a:lumMod val="75000"/>
                    <a:lumOff val="25000"/>
                  </a:schemeClr>
                </a:solidFill>
              </a:rPr>
              <a:t>(accessed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8641F8B-F7DF-5248-5387-2E17794FFF68}"/>
              </a:ext>
            </a:extLst>
          </p:cNvPr>
          <p:cNvSpPr txBox="1"/>
          <p:nvPr/>
        </p:nvSpPr>
        <p:spPr>
          <a:xfrm>
            <a:off x="628650" y="249447"/>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dirty="0">
                <a:solidFill>
                  <a:schemeClr val="bg1">
                    <a:lumMod val="75000"/>
                    <a:lumOff val="25000"/>
                  </a:schemeClr>
                </a:solidFill>
                <a:latin typeface="+mj-lt"/>
                <a:ea typeface="+mj-ea"/>
                <a:cs typeface="+mj-cs"/>
              </a:rPr>
              <a:t>Data Wrangling</a:t>
            </a:r>
            <a:endParaRPr lang="en-US" sz="3200" b="1" kern="1200" dirty="0">
              <a:solidFill>
                <a:schemeClr val="bg1">
                  <a:lumMod val="75000"/>
                  <a:lumOff val="25000"/>
                </a:schemeClr>
              </a:solidFill>
              <a:latin typeface="+mj-lt"/>
              <a:ea typeface="+mj-ea"/>
              <a:cs typeface="+mj-cs"/>
            </a:endParaRPr>
          </a:p>
        </p:txBody>
      </p:sp>
      <p:sp>
        <p:nvSpPr>
          <p:cNvPr id="10" name="TextBox 9">
            <a:extLst>
              <a:ext uri="{FF2B5EF4-FFF2-40B4-BE49-F238E27FC236}">
                <a16:creationId xmlns:a16="http://schemas.microsoft.com/office/drawing/2014/main" id="{2964DE62-577B-6862-5193-E3EFEFFCB025}"/>
              </a:ext>
            </a:extLst>
          </p:cNvPr>
          <p:cNvSpPr txBox="1"/>
          <p:nvPr/>
        </p:nvSpPr>
        <p:spPr>
          <a:xfrm>
            <a:off x="991101" y="1043375"/>
            <a:ext cx="7161798" cy="3816429"/>
          </a:xfrm>
          <a:prstGeom prst="rect">
            <a:avLst/>
          </a:prstGeom>
          <a:noFill/>
        </p:spPr>
        <p:txBody>
          <a:bodyPr wrap="square" rtlCol="0">
            <a:spAutoFit/>
          </a:bodyPr>
          <a:lstStyle/>
          <a:p>
            <a:r>
              <a:rPr lang="en-US" sz="2000" b="1" dirty="0">
                <a:solidFill>
                  <a:schemeClr val="bg1">
                    <a:lumMod val="75000"/>
                    <a:lumOff val="25000"/>
                  </a:schemeClr>
                </a:solidFill>
                <a:latin typeface="+mj-lt"/>
              </a:rPr>
              <a:t>Key Steps</a:t>
            </a:r>
          </a:p>
          <a:p>
            <a:endParaRPr lang="en-US" sz="2000" b="1" dirty="0">
              <a:solidFill>
                <a:schemeClr val="bg1">
                  <a:lumMod val="75000"/>
                  <a:lumOff val="25000"/>
                </a:schemeClr>
              </a:solidFill>
              <a:latin typeface="+mj-lt"/>
            </a:endParaRPr>
          </a:p>
          <a:p>
            <a:pPr marL="285750" indent="-285750">
              <a:buFont typeface="Arial" panose="020B0604020202020204" pitchFamily="34" charset="0"/>
              <a:buChar char="•"/>
            </a:pPr>
            <a:r>
              <a:rPr lang="en-US" dirty="0">
                <a:solidFill>
                  <a:schemeClr val="bg1">
                    <a:lumMod val="75000"/>
                    <a:lumOff val="25000"/>
                  </a:schemeClr>
                </a:solidFill>
              </a:rPr>
              <a:t>Reduced CO2 Dataset from 79 to 10 relevant columns</a:t>
            </a:r>
          </a:p>
          <a:p>
            <a:pPr marL="285750" indent="-285750">
              <a:buFont typeface="Arial" panose="020B0604020202020204" pitchFamily="34" charset="0"/>
              <a:buChar char="•"/>
            </a:pPr>
            <a:r>
              <a:rPr lang="en-US" dirty="0">
                <a:solidFill>
                  <a:schemeClr val="bg1">
                    <a:lumMod val="75000"/>
                    <a:lumOff val="25000"/>
                  </a:schemeClr>
                </a:solidFill>
              </a:rPr>
              <a:t>Removed non-country entries</a:t>
            </a:r>
          </a:p>
          <a:p>
            <a:pPr marL="285750" indent="-285750">
              <a:buFont typeface="Arial" panose="020B0604020202020204" pitchFamily="34" charset="0"/>
              <a:buChar char="•"/>
            </a:pPr>
            <a:r>
              <a:rPr lang="en-US" dirty="0">
                <a:solidFill>
                  <a:schemeClr val="bg1">
                    <a:lumMod val="75000"/>
                    <a:lumOff val="25000"/>
                  </a:schemeClr>
                </a:solidFill>
              </a:rPr>
              <a:t>Filtered both Plastics and CO2 Datasets for 1990-2019 Timeframe</a:t>
            </a:r>
          </a:p>
          <a:p>
            <a:pPr marL="285750" indent="-285750">
              <a:buFont typeface="Arial" panose="020B0604020202020204" pitchFamily="34" charset="0"/>
              <a:buChar char="•"/>
            </a:pPr>
            <a:r>
              <a:rPr lang="en-US" dirty="0">
                <a:solidFill>
                  <a:schemeClr val="bg1">
                    <a:lumMod val="75000"/>
                    <a:lumOff val="25000"/>
                  </a:schemeClr>
                </a:solidFill>
              </a:rPr>
              <a:t>Handled missing values</a:t>
            </a:r>
          </a:p>
          <a:p>
            <a:pPr marL="285750" indent="-285750">
              <a:buFont typeface="Arial" panose="020B0604020202020204" pitchFamily="34" charset="0"/>
              <a:buChar char="•"/>
            </a:pPr>
            <a:r>
              <a:rPr lang="en-US" dirty="0">
                <a:solidFill>
                  <a:schemeClr val="bg1">
                    <a:lumMod val="75000"/>
                    <a:lumOff val="25000"/>
                  </a:schemeClr>
                </a:solidFill>
              </a:rPr>
              <a:t>Created merged Global CO2 + Plastics Dataset</a:t>
            </a:r>
          </a:p>
          <a:p>
            <a:pPr marL="285750" indent="-285750">
              <a:buFont typeface="Arial" panose="020B0604020202020204" pitchFamily="34" charset="0"/>
              <a:buChar char="•"/>
            </a:pPr>
            <a:r>
              <a:rPr lang="en-US" dirty="0">
                <a:solidFill>
                  <a:schemeClr val="bg1">
                    <a:lumMod val="75000"/>
                    <a:lumOff val="25000"/>
                  </a:schemeClr>
                </a:solidFill>
              </a:rPr>
              <a:t>Standardized Units</a:t>
            </a:r>
          </a:p>
          <a:p>
            <a:pPr marL="285750" indent="-285750">
              <a:buFont typeface="Arial" panose="020B0604020202020204" pitchFamily="34" charset="0"/>
              <a:buChar char="•"/>
            </a:pPr>
            <a:endParaRPr lang="en-US" dirty="0">
              <a:solidFill>
                <a:schemeClr val="bg1">
                  <a:lumMod val="75000"/>
                  <a:lumOff val="25000"/>
                </a:schemeClr>
              </a:solidFill>
            </a:endParaRPr>
          </a:p>
          <a:p>
            <a:r>
              <a:rPr lang="en-US" sz="2000" b="1" dirty="0">
                <a:solidFill>
                  <a:schemeClr val="bg1">
                    <a:lumMod val="75000"/>
                    <a:lumOff val="25000"/>
                  </a:schemeClr>
                </a:solidFill>
                <a:latin typeface="+mj-lt"/>
              </a:rPr>
              <a:t>Final Datasets</a:t>
            </a:r>
          </a:p>
          <a:p>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dirty="0">
                <a:solidFill>
                  <a:schemeClr val="bg1">
                    <a:lumMod val="75000"/>
                    <a:lumOff val="25000"/>
                  </a:schemeClr>
                </a:solidFill>
              </a:rPr>
              <a:t>CO2 Master Country Year Level Dataset for Modeling</a:t>
            </a:r>
          </a:p>
          <a:p>
            <a:pPr marL="342900" indent="-342900">
              <a:buFont typeface="Arial" panose="020B0604020202020204" pitchFamily="34" charset="0"/>
              <a:buChar char="•"/>
            </a:pPr>
            <a:r>
              <a:rPr lang="en-US" dirty="0">
                <a:solidFill>
                  <a:schemeClr val="bg1">
                    <a:lumMod val="75000"/>
                    <a:lumOff val="25000"/>
                  </a:schemeClr>
                </a:solidFill>
              </a:rPr>
              <a:t>Global CO2 + Plastics Dataset for Trends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FE2FA55-0626-0BEC-D92E-396589C22BC6}"/>
              </a:ext>
            </a:extLst>
          </p:cNvPr>
          <p:cNvSpPr txBox="1"/>
          <p:nvPr/>
        </p:nvSpPr>
        <p:spPr>
          <a:xfrm>
            <a:off x="628650" y="52244"/>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Global Trends</a:t>
            </a:r>
          </a:p>
        </p:txBody>
      </p:sp>
      <p:pic>
        <p:nvPicPr>
          <p:cNvPr id="13" name="Picture 12">
            <a:extLst>
              <a:ext uri="{FF2B5EF4-FFF2-40B4-BE49-F238E27FC236}">
                <a16:creationId xmlns:a16="http://schemas.microsoft.com/office/drawing/2014/main" id="{B367BA3A-95C2-EF82-4795-902EF384D293}"/>
              </a:ext>
            </a:extLst>
          </p:cNvPr>
          <p:cNvPicPr>
            <a:picLocks noChangeAspect="1"/>
          </p:cNvPicPr>
          <p:nvPr/>
        </p:nvPicPr>
        <p:blipFill>
          <a:blip r:embed="rId4">
            <a:alphaModFix amt="66000"/>
          </a:blip>
          <a:stretch>
            <a:fillRect/>
          </a:stretch>
        </p:blipFill>
        <p:spPr>
          <a:xfrm>
            <a:off x="0" y="902367"/>
            <a:ext cx="9144000" cy="4241131"/>
          </a:xfrm>
          <a:prstGeom prst="rect">
            <a:avLst/>
          </a:prstGeom>
        </p:spPr>
      </p:pic>
      <p:sp>
        <p:nvSpPr>
          <p:cNvPr id="14" name="Rectangle 13">
            <a:extLst>
              <a:ext uri="{FF2B5EF4-FFF2-40B4-BE49-F238E27FC236}">
                <a16:creationId xmlns:a16="http://schemas.microsoft.com/office/drawing/2014/main" id="{4EBE703B-683D-6E8A-9A37-DF92D1D4F9E5}"/>
              </a:ext>
            </a:extLst>
          </p:cNvPr>
          <p:cNvSpPr/>
          <p:nvPr/>
        </p:nvSpPr>
        <p:spPr>
          <a:xfrm>
            <a:off x="2334125" y="2935705"/>
            <a:ext cx="4535907" cy="2207794"/>
          </a:xfrm>
          <a:prstGeom prst="rect">
            <a:avLst/>
          </a:prstGeom>
          <a:solidFill>
            <a:schemeClr val="accent2">
              <a:lumMod val="60000"/>
              <a:lumOff val="40000"/>
              <a:alpha val="3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C17A671A-C309-D592-0D02-037F746E38BE}"/>
              </a:ext>
            </a:extLst>
          </p:cNvPr>
          <p:cNvSpPr txBox="1"/>
          <p:nvPr/>
        </p:nvSpPr>
        <p:spPr>
          <a:xfrm>
            <a:off x="628650" y="297575"/>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Exploratory Data Analysis</a:t>
            </a:r>
          </a:p>
        </p:txBody>
      </p:sp>
      <p:sp>
        <p:nvSpPr>
          <p:cNvPr id="22" name="TextBox 21">
            <a:extLst>
              <a:ext uri="{FF2B5EF4-FFF2-40B4-BE49-F238E27FC236}">
                <a16:creationId xmlns:a16="http://schemas.microsoft.com/office/drawing/2014/main" id="{F747A907-A404-946A-742C-18BD44A4E554}"/>
              </a:ext>
            </a:extLst>
          </p:cNvPr>
          <p:cNvSpPr txBox="1"/>
          <p:nvPr/>
        </p:nvSpPr>
        <p:spPr>
          <a:xfrm>
            <a:off x="991100" y="1140911"/>
            <a:ext cx="7394911" cy="3539430"/>
          </a:xfrm>
          <a:prstGeom prst="rect">
            <a:avLst/>
          </a:prstGeom>
          <a:noFill/>
        </p:spPr>
        <p:txBody>
          <a:bodyPr wrap="square" rtlCol="0">
            <a:spAutoFit/>
          </a:bodyPr>
          <a:lstStyle/>
          <a:p>
            <a:r>
              <a:rPr lang="en-US" sz="2000" b="1" dirty="0">
                <a:solidFill>
                  <a:schemeClr val="bg1">
                    <a:lumMod val="75000"/>
                    <a:lumOff val="25000"/>
                  </a:schemeClr>
                </a:solidFill>
                <a:latin typeface="+mj-lt"/>
              </a:rPr>
              <a:t>Key Insights</a:t>
            </a:r>
          </a:p>
          <a:p>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dirty="0">
                <a:solidFill>
                  <a:schemeClr val="bg1">
                    <a:lumMod val="75000"/>
                    <a:lumOff val="25000"/>
                  </a:schemeClr>
                </a:solidFill>
              </a:rPr>
              <a:t>Energy per capita is strongly correlated with CO2 Emissions</a:t>
            </a:r>
          </a:p>
          <a:p>
            <a:pPr marL="342900" indent="-342900">
              <a:buFont typeface="Arial" panose="020B0604020202020204" pitchFamily="34" charset="0"/>
              <a:buChar char="•"/>
            </a:pPr>
            <a:r>
              <a:rPr lang="en-US" dirty="0">
                <a:solidFill>
                  <a:schemeClr val="bg1">
                    <a:lumMod val="75000"/>
                    <a:lumOff val="25000"/>
                  </a:schemeClr>
                </a:solidFill>
              </a:rPr>
              <a:t>Higher GDP → Higher CO2 Emissions</a:t>
            </a:r>
          </a:p>
          <a:p>
            <a:pPr marL="342900" indent="-342900">
              <a:buFont typeface="Arial" panose="020B0604020202020204" pitchFamily="34" charset="0"/>
              <a:buChar char="•"/>
            </a:pPr>
            <a:r>
              <a:rPr lang="en-US" dirty="0">
                <a:solidFill>
                  <a:schemeClr val="bg1">
                    <a:lumMod val="75000"/>
                    <a:lumOff val="25000"/>
                  </a:schemeClr>
                </a:solidFill>
              </a:rPr>
              <a:t>Higher Population Size → Higher Total CO2 Emissions</a:t>
            </a:r>
          </a:p>
          <a:p>
            <a:pPr marL="342900" indent="-342900">
              <a:buFont typeface="Arial" panose="020B0604020202020204" pitchFamily="34" charset="0"/>
              <a:buChar char="•"/>
            </a:pPr>
            <a:r>
              <a:rPr lang="en-US" dirty="0">
                <a:solidFill>
                  <a:schemeClr val="bg1">
                    <a:lumMod val="75000"/>
                    <a:lumOff val="25000"/>
                  </a:schemeClr>
                </a:solidFill>
              </a:rPr>
              <a:t>Developed countries show signs of decoupling</a:t>
            </a:r>
          </a:p>
          <a:p>
            <a:pPr marL="285750" indent="-285750">
              <a:buFont typeface="Arial" panose="020B0604020202020204" pitchFamily="34" charset="0"/>
              <a:buChar char="•"/>
            </a:pPr>
            <a:endParaRPr lang="en-US" dirty="0">
              <a:solidFill>
                <a:schemeClr val="bg1">
                  <a:lumMod val="75000"/>
                  <a:lumOff val="25000"/>
                </a:schemeClr>
              </a:solidFill>
            </a:endParaRPr>
          </a:p>
          <a:p>
            <a:pPr marL="285750" indent="-285750">
              <a:buFont typeface="Arial" panose="020B0604020202020204" pitchFamily="34" charset="0"/>
              <a:buChar char="•"/>
            </a:pPr>
            <a:endParaRPr lang="en-US" dirty="0">
              <a:solidFill>
                <a:schemeClr val="bg1">
                  <a:lumMod val="75000"/>
                  <a:lumOff val="25000"/>
                </a:schemeClr>
              </a:solidFill>
            </a:endParaRPr>
          </a:p>
          <a:p>
            <a:r>
              <a:rPr lang="en-US" sz="2000" b="1" dirty="0">
                <a:solidFill>
                  <a:schemeClr val="bg1">
                    <a:lumMod val="75000"/>
                    <a:lumOff val="25000"/>
                  </a:schemeClr>
                </a:solidFill>
                <a:latin typeface="+mj-lt"/>
              </a:rPr>
              <a:t>Important Observation</a:t>
            </a:r>
          </a:p>
          <a:p>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dirty="0">
                <a:solidFill>
                  <a:schemeClr val="bg1">
                    <a:lumMod val="75000"/>
                    <a:lumOff val="25000"/>
                  </a:schemeClr>
                </a:solidFill>
              </a:rPr>
              <a:t>Emissions stabilized for some developed countries despite economic growth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36F0B58-3A8A-12E8-8A2A-0E67234FD54B}"/>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dirty="0">
                <a:solidFill>
                  <a:schemeClr val="bg1">
                    <a:lumMod val="75000"/>
                    <a:lumOff val="25000"/>
                  </a:schemeClr>
                </a:solidFill>
                <a:latin typeface="+mj-lt"/>
                <a:ea typeface="+mj-ea"/>
                <a:cs typeface="+mj-cs"/>
              </a:rPr>
              <a:t>Feature Engineering &amp; Preprocessing</a:t>
            </a:r>
            <a:endParaRPr lang="en-US" sz="3200" b="1" kern="1200" dirty="0">
              <a:solidFill>
                <a:schemeClr val="bg1">
                  <a:lumMod val="75000"/>
                  <a:lumOff val="25000"/>
                </a:schemeClr>
              </a:solidFill>
              <a:latin typeface="+mj-lt"/>
              <a:ea typeface="+mj-ea"/>
              <a:cs typeface="+mj-cs"/>
            </a:endParaRPr>
          </a:p>
        </p:txBody>
      </p:sp>
      <p:sp>
        <p:nvSpPr>
          <p:cNvPr id="10" name="TextBox 9">
            <a:extLst>
              <a:ext uri="{FF2B5EF4-FFF2-40B4-BE49-F238E27FC236}">
                <a16:creationId xmlns:a16="http://schemas.microsoft.com/office/drawing/2014/main" id="{6E86892D-8887-FFB2-B1CE-02F08DBFCAEB}"/>
              </a:ext>
            </a:extLst>
          </p:cNvPr>
          <p:cNvSpPr txBox="1"/>
          <p:nvPr/>
        </p:nvSpPr>
        <p:spPr>
          <a:xfrm>
            <a:off x="991100" y="1299407"/>
            <a:ext cx="7394911" cy="2646878"/>
          </a:xfrm>
          <a:prstGeom prst="rect">
            <a:avLst/>
          </a:prstGeom>
          <a:noFill/>
        </p:spPr>
        <p:txBody>
          <a:bodyPr wrap="square" rtlCol="0">
            <a:spAutoFit/>
          </a:bodyPr>
          <a:lstStyle/>
          <a:p>
            <a:r>
              <a:rPr lang="en-US" sz="2000" b="1" dirty="0">
                <a:solidFill>
                  <a:schemeClr val="bg1">
                    <a:lumMod val="75000"/>
                    <a:lumOff val="25000"/>
                  </a:schemeClr>
                </a:solidFill>
                <a:latin typeface="+mj-lt"/>
              </a:rPr>
              <a:t>Key Steps</a:t>
            </a:r>
          </a:p>
          <a:p>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dirty="0">
                <a:solidFill>
                  <a:schemeClr val="bg1">
                    <a:lumMod val="75000"/>
                    <a:lumOff val="25000"/>
                  </a:schemeClr>
                </a:solidFill>
              </a:rPr>
              <a:t>Log Transformation of Skewed Features</a:t>
            </a:r>
          </a:p>
          <a:p>
            <a:pPr marL="342900" indent="-342900">
              <a:buFont typeface="Arial" panose="020B0604020202020204" pitchFamily="34" charset="0"/>
              <a:buChar char="•"/>
            </a:pPr>
            <a:r>
              <a:rPr lang="en-US" dirty="0">
                <a:solidFill>
                  <a:schemeClr val="bg1">
                    <a:lumMod val="75000"/>
                    <a:lumOff val="25000"/>
                  </a:schemeClr>
                </a:solidFill>
              </a:rPr>
              <a:t>PCA Transformation of Features for Multicollinearity</a:t>
            </a:r>
          </a:p>
          <a:p>
            <a:pPr marL="342900" indent="-342900">
              <a:buFont typeface="Arial" panose="020B0604020202020204" pitchFamily="34" charset="0"/>
              <a:buChar char="•"/>
            </a:pPr>
            <a:r>
              <a:rPr lang="en-US" dirty="0">
                <a:solidFill>
                  <a:schemeClr val="bg1">
                    <a:lumMod val="75000"/>
                    <a:lumOff val="25000"/>
                  </a:schemeClr>
                </a:solidFill>
              </a:rPr>
              <a:t>Standardization of Features</a:t>
            </a:r>
          </a:p>
          <a:p>
            <a:pPr marL="342900" indent="-342900">
              <a:buFont typeface="Arial" panose="020B0604020202020204" pitchFamily="34" charset="0"/>
              <a:buChar char="•"/>
            </a:pPr>
            <a:r>
              <a:rPr lang="en-US" dirty="0">
                <a:solidFill>
                  <a:schemeClr val="bg1">
                    <a:lumMod val="75000"/>
                    <a:lumOff val="25000"/>
                  </a:schemeClr>
                </a:solidFill>
              </a:rPr>
              <a:t>Time aware Train/Test Splits for 2 Modeling Approaches</a:t>
            </a:r>
          </a:p>
          <a:p>
            <a:pPr marL="800100" lvl="1" indent="-342900">
              <a:buFont typeface="Arial" panose="020B0604020202020204" pitchFamily="34" charset="0"/>
              <a:buChar char="•"/>
            </a:pPr>
            <a:r>
              <a:rPr lang="en-US" dirty="0">
                <a:solidFill>
                  <a:schemeClr val="bg1">
                    <a:lumMod val="75000"/>
                    <a:lumOff val="25000"/>
                  </a:schemeClr>
                </a:solidFill>
              </a:rPr>
              <a:t>Total CO2 Emissions as Target</a:t>
            </a:r>
          </a:p>
          <a:p>
            <a:pPr marL="800100" lvl="1" indent="-342900">
              <a:buFont typeface="Arial" panose="020B0604020202020204" pitchFamily="34" charset="0"/>
              <a:buChar char="•"/>
            </a:pPr>
            <a:r>
              <a:rPr lang="en-US" dirty="0">
                <a:solidFill>
                  <a:schemeClr val="bg1">
                    <a:lumMod val="75000"/>
                    <a:lumOff val="25000"/>
                  </a:schemeClr>
                </a:solidFill>
              </a:rPr>
              <a:t>CO2 per Capita as Target</a:t>
            </a:r>
          </a:p>
          <a:p>
            <a:r>
              <a:rPr lang="en-US" dirty="0">
                <a:solidFill>
                  <a:schemeClr val="bg1">
                    <a:lumMod val="75000"/>
                    <a:lumOff val="25000"/>
                  </a:schemeClr>
                </a:solidFill>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179537F-8E8F-9CCA-E149-4FED89729137}"/>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Modeling </a:t>
            </a:r>
            <a:r>
              <a:rPr lang="en-US" sz="3200" b="1" dirty="0">
                <a:solidFill>
                  <a:schemeClr val="bg1">
                    <a:lumMod val="75000"/>
                    <a:lumOff val="25000"/>
                  </a:schemeClr>
                </a:solidFill>
                <a:latin typeface="+mj-lt"/>
                <a:ea typeface="+mj-ea"/>
                <a:cs typeface="+mj-cs"/>
              </a:rPr>
              <a:t>Strategy</a:t>
            </a:r>
            <a:endParaRPr lang="en-US" sz="3200" b="1" kern="1200" dirty="0">
              <a:solidFill>
                <a:schemeClr val="bg1">
                  <a:lumMod val="75000"/>
                  <a:lumOff val="25000"/>
                </a:schemeClr>
              </a:solidFill>
              <a:latin typeface="+mj-lt"/>
              <a:ea typeface="+mj-ea"/>
              <a:cs typeface="+mj-cs"/>
            </a:endParaRPr>
          </a:p>
        </p:txBody>
      </p:sp>
      <p:sp>
        <p:nvSpPr>
          <p:cNvPr id="16" name="TextBox 15">
            <a:extLst>
              <a:ext uri="{FF2B5EF4-FFF2-40B4-BE49-F238E27FC236}">
                <a16:creationId xmlns:a16="http://schemas.microsoft.com/office/drawing/2014/main" id="{32A035A6-A163-14E1-2E63-39F296409591}"/>
              </a:ext>
            </a:extLst>
          </p:cNvPr>
          <p:cNvSpPr txBox="1"/>
          <p:nvPr/>
        </p:nvSpPr>
        <p:spPr>
          <a:xfrm>
            <a:off x="991100" y="1239247"/>
            <a:ext cx="7394911" cy="3600986"/>
          </a:xfrm>
          <a:prstGeom prst="rect">
            <a:avLst/>
          </a:prstGeom>
          <a:noFill/>
        </p:spPr>
        <p:txBody>
          <a:bodyPr wrap="square" rtlCol="0">
            <a:spAutoFit/>
          </a:bodyPr>
          <a:lstStyle/>
          <a:p>
            <a:r>
              <a:rPr lang="en-US" sz="2000" b="1" dirty="0">
                <a:solidFill>
                  <a:schemeClr val="bg1">
                    <a:lumMod val="75000"/>
                    <a:lumOff val="25000"/>
                  </a:schemeClr>
                </a:solidFill>
                <a:latin typeface="+mj-lt"/>
              </a:rPr>
              <a:t>Modeling Approaches</a:t>
            </a:r>
          </a:p>
          <a:p>
            <a:endParaRPr lang="en-US" dirty="0">
              <a:solidFill>
                <a:schemeClr val="bg1">
                  <a:lumMod val="75000"/>
                  <a:lumOff val="25000"/>
                </a:schemeClr>
              </a:solidFill>
            </a:endParaRPr>
          </a:p>
          <a:p>
            <a:pPr marL="342900" indent="-342900">
              <a:buFont typeface="Arial" panose="020B0604020202020204" pitchFamily="34" charset="0"/>
              <a:buChar char="•"/>
            </a:pPr>
            <a:endParaRPr lang="en-US" dirty="0">
              <a:solidFill>
                <a:schemeClr val="bg1">
                  <a:lumMod val="75000"/>
                  <a:lumOff val="25000"/>
                </a:schemeClr>
              </a:solidFill>
            </a:endParaRPr>
          </a:p>
          <a:p>
            <a:pPr marL="342900" indent="-342900">
              <a:buFont typeface="Arial" panose="020B0604020202020204" pitchFamily="34" charset="0"/>
              <a:buChar char="•"/>
            </a:pPr>
            <a:endParaRPr lang="en-US" dirty="0">
              <a:solidFill>
                <a:schemeClr val="bg1">
                  <a:lumMod val="75000"/>
                  <a:lumOff val="25000"/>
                </a:schemeClr>
              </a:solidFill>
            </a:endParaRPr>
          </a:p>
          <a:p>
            <a:pPr marL="342900" indent="-342900">
              <a:buFont typeface="Arial" panose="020B0604020202020204" pitchFamily="34" charset="0"/>
              <a:buChar char="•"/>
            </a:pPr>
            <a:endParaRPr lang="en-US" dirty="0">
              <a:solidFill>
                <a:schemeClr val="bg1">
                  <a:lumMod val="75000"/>
                  <a:lumOff val="25000"/>
                </a:schemeClr>
              </a:solidFill>
            </a:endParaRPr>
          </a:p>
          <a:p>
            <a:endParaRPr lang="en-US" dirty="0">
              <a:solidFill>
                <a:schemeClr val="bg1">
                  <a:lumMod val="75000"/>
                  <a:lumOff val="25000"/>
                </a:schemeClr>
              </a:solidFill>
            </a:endParaRPr>
          </a:p>
          <a:p>
            <a:endParaRPr lang="en-US" sz="2000" b="1" dirty="0">
              <a:solidFill>
                <a:schemeClr val="bg1">
                  <a:lumMod val="75000"/>
                  <a:lumOff val="25000"/>
                </a:schemeClr>
              </a:solidFill>
              <a:latin typeface="+mj-lt"/>
            </a:endParaRPr>
          </a:p>
          <a:p>
            <a:endParaRPr lang="en-US" sz="2000" b="1" dirty="0">
              <a:solidFill>
                <a:schemeClr val="bg1">
                  <a:lumMod val="75000"/>
                  <a:lumOff val="25000"/>
                </a:schemeClr>
              </a:solidFill>
              <a:latin typeface="+mj-lt"/>
            </a:endParaRPr>
          </a:p>
          <a:p>
            <a:r>
              <a:rPr lang="en-US" sz="2000" b="1" dirty="0">
                <a:solidFill>
                  <a:schemeClr val="bg1">
                    <a:lumMod val="75000"/>
                    <a:lumOff val="25000"/>
                  </a:schemeClr>
                </a:solidFill>
                <a:latin typeface="+mj-lt"/>
              </a:rPr>
              <a:t>Models Used : </a:t>
            </a:r>
            <a:r>
              <a:rPr lang="en-US" dirty="0">
                <a:solidFill>
                  <a:schemeClr val="bg1">
                    <a:lumMod val="75000"/>
                    <a:lumOff val="25000"/>
                  </a:schemeClr>
                </a:solidFill>
              </a:rPr>
              <a:t>Ordinary Least Squares with country fixed effects (Scaled &amp; Unscaled), Scaled Ridge Regression , Random Forest Model</a:t>
            </a:r>
          </a:p>
          <a:p>
            <a:pPr marL="285750" lvl="0" indent="-285750">
              <a:buFont typeface="Arial" panose="020B0604020202020204" pitchFamily="34" charset="0"/>
              <a:buChar char="•"/>
            </a:pPr>
            <a:endParaRPr lang="en-US" sz="2000" b="1" dirty="0">
              <a:solidFill>
                <a:schemeClr val="bg1">
                  <a:lumMod val="75000"/>
                  <a:lumOff val="25000"/>
                </a:schemeClr>
              </a:solidFill>
              <a:latin typeface="+mj-lt"/>
            </a:endParaRPr>
          </a:p>
          <a:p>
            <a:r>
              <a:rPr lang="en-US" sz="2000" b="1" dirty="0">
                <a:solidFill>
                  <a:schemeClr val="bg1">
                    <a:lumMod val="75000"/>
                    <a:lumOff val="25000"/>
                  </a:schemeClr>
                </a:solidFill>
                <a:latin typeface="+mj-lt"/>
              </a:rPr>
              <a:t>Evaluation Metrics : </a:t>
            </a:r>
            <a:r>
              <a:rPr lang="en-US" dirty="0">
                <a:solidFill>
                  <a:schemeClr val="bg1">
                    <a:lumMod val="75000"/>
                    <a:lumOff val="25000"/>
                  </a:schemeClr>
                </a:solidFill>
              </a:rPr>
              <a:t>R², RMSE, MAE</a:t>
            </a:r>
          </a:p>
        </p:txBody>
      </p:sp>
      <p:graphicFrame>
        <p:nvGraphicFramePr>
          <p:cNvPr id="17" name="Table 16">
            <a:extLst>
              <a:ext uri="{FF2B5EF4-FFF2-40B4-BE49-F238E27FC236}">
                <a16:creationId xmlns:a16="http://schemas.microsoft.com/office/drawing/2014/main" id="{3E7A4F03-CF3E-3046-F631-1E3A73F20B82}"/>
              </a:ext>
            </a:extLst>
          </p:cNvPr>
          <p:cNvGraphicFramePr>
            <a:graphicFrameLocks noGrp="1"/>
          </p:cNvGraphicFramePr>
          <p:nvPr>
            <p:extLst>
              <p:ext uri="{D42A27DB-BD31-4B8C-83A1-F6EECF244321}">
                <p14:modId xmlns:p14="http://schemas.microsoft.com/office/powerpoint/2010/main" val="3515139129"/>
              </p:ext>
            </p:extLst>
          </p:nvPr>
        </p:nvGraphicFramePr>
        <p:xfrm>
          <a:off x="1077597" y="1794438"/>
          <a:ext cx="7886700" cy="1371600"/>
        </p:xfrm>
        <a:graphic>
          <a:graphicData uri="http://schemas.openxmlformats.org/drawingml/2006/table">
            <a:tbl>
              <a:tblPr firstRow="1" bandRow="1">
                <a:tableStyleId>{5940675A-B579-460E-94D1-54222C63F5DA}</a:tableStyleId>
              </a:tblPr>
              <a:tblGrid>
                <a:gridCol w="1378258">
                  <a:extLst>
                    <a:ext uri="{9D8B030D-6E8A-4147-A177-3AD203B41FA5}">
                      <a16:colId xmlns:a16="http://schemas.microsoft.com/office/drawing/2014/main" val="1323877882"/>
                    </a:ext>
                  </a:extLst>
                </a:gridCol>
                <a:gridCol w="2169481">
                  <a:extLst>
                    <a:ext uri="{9D8B030D-6E8A-4147-A177-3AD203B41FA5}">
                      <a16:colId xmlns:a16="http://schemas.microsoft.com/office/drawing/2014/main" val="1928879640"/>
                    </a:ext>
                  </a:extLst>
                </a:gridCol>
                <a:gridCol w="4338961">
                  <a:extLst>
                    <a:ext uri="{9D8B030D-6E8A-4147-A177-3AD203B41FA5}">
                      <a16:colId xmlns:a16="http://schemas.microsoft.com/office/drawing/2014/main" val="2478598558"/>
                    </a:ext>
                  </a:extLst>
                </a:gridCol>
              </a:tblGrid>
              <a:tr h="332002">
                <a:tc>
                  <a:txBody>
                    <a:bodyPr/>
                    <a:lstStyle/>
                    <a:p>
                      <a:pPr algn="ctr"/>
                      <a:r>
                        <a:rPr lang="en-US" sz="1800" dirty="0">
                          <a:solidFill>
                            <a:schemeClr val="tx1"/>
                          </a:solidFill>
                        </a:rPr>
                        <a:t>Approach</a:t>
                      </a:r>
                    </a:p>
                  </a:txBody>
                  <a:tcPr>
                    <a:solidFill>
                      <a:schemeClr val="bg1">
                        <a:lumMod val="75000"/>
                        <a:lumOff val="25000"/>
                        <a:alpha val="46000"/>
                      </a:schemeClr>
                    </a:solidFill>
                  </a:tcPr>
                </a:tc>
                <a:tc>
                  <a:txBody>
                    <a:bodyPr/>
                    <a:lstStyle/>
                    <a:p>
                      <a:pPr algn="ctr"/>
                      <a:r>
                        <a:rPr lang="en-US" sz="1800" dirty="0">
                          <a:solidFill>
                            <a:schemeClr val="tx1"/>
                          </a:solidFill>
                        </a:rPr>
                        <a:t>Target Variable</a:t>
                      </a:r>
                    </a:p>
                  </a:txBody>
                  <a:tcPr>
                    <a:solidFill>
                      <a:schemeClr val="bg1">
                        <a:lumMod val="75000"/>
                        <a:lumOff val="25000"/>
                        <a:alpha val="46000"/>
                      </a:schemeClr>
                    </a:solidFill>
                  </a:tcPr>
                </a:tc>
                <a:tc>
                  <a:txBody>
                    <a:bodyPr/>
                    <a:lstStyle/>
                    <a:p>
                      <a:pPr algn="ctr"/>
                      <a:r>
                        <a:rPr lang="en-US" sz="1800" dirty="0">
                          <a:solidFill>
                            <a:schemeClr val="tx1"/>
                          </a:solidFill>
                        </a:rPr>
                        <a:t>Features</a:t>
                      </a:r>
                    </a:p>
                  </a:txBody>
                  <a:tcPr>
                    <a:solidFill>
                      <a:schemeClr val="bg1">
                        <a:lumMod val="75000"/>
                        <a:lumOff val="25000"/>
                        <a:alpha val="46000"/>
                      </a:schemeClr>
                    </a:solidFill>
                  </a:tcPr>
                </a:tc>
                <a:extLst>
                  <a:ext uri="{0D108BD9-81ED-4DB2-BD59-A6C34878D82A}">
                    <a16:rowId xmlns:a16="http://schemas.microsoft.com/office/drawing/2014/main" val="3556802403"/>
                  </a:ext>
                </a:extLst>
              </a:tr>
              <a:tr h="468276">
                <a:tc>
                  <a:txBody>
                    <a:bodyPr/>
                    <a:lstStyle/>
                    <a:p>
                      <a:pPr algn="ctr"/>
                      <a:r>
                        <a:rPr lang="en-US" sz="1800" dirty="0">
                          <a:solidFill>
                            <a:schemeClr val="tx1"/>
                          </a:solidFill>
                        </a:rPr>
                        <a:t>1</a:t>
                      </a:r>
                      <a:r>
                        <a:rPr lang="en-US" sz="1800" baseline="30000" dirty="0">
                          <a:solidFill>
                            <a:schemeClr val="tx1"/>
                          </a:solidFill>
                        </a:rPr>
                        <a:t>st</a:t>
                      </a:r>
                      <a:r>
                        <a:rPr lang="en-US" sz="1800" dirty="0">
                          <a:solidFill>
                            <a:schemeClr val="tx1"/>
                          </a:solidFill>
                        </a:rPr>
                        <a:t> Strategy</a:t>
                      </a:r>
                    </a:p>
                  </a:txBody>
                  <a:tcPr>
                    <a:solidFill>
                      <a:schemeClr val="bg1">
                        <a:lumMod val="75000"/>
                        <a:lumOff val="25000"/>
                        <a:alpha val="46000"/>
                      </a:schemeClr>
                    </a:solidFill>
                  </a:tcPr>
                </a:tc>
                <a:tc>
                  <a:txBody>
                    <a:bodyPr/>
                    <a:lstStyle/>
                    <a:p>
                      <a:pPr algn="ctr"/>
                      <a:r>
                        <a:rPr lang="en-US" sz="1800" dirty="0">
                          <a:solidFill>
                            <a:schemeClr val="tx1"/>
                          </a:solidFill>
                        </a:rPr>
                        <a:t>log_co2</a:t>
                      </a:r>
                    </a:p>
                  </a:txBody>
                  <a:tcPr>
                    <a:solidFill>
                      <a:schemeClr val="bg1">
                        <a:lumMod val="75000"/>
                        <a:lumOff val="25000"/>
                        <a:alpha val="46000"/>
                      </a:schemeClr>
                    </a:solidFill>
                  </a:tcPr>
                </a:tc>
                <a:tc>
                  <a:txBody>
                    <a:bodyPr/>
                    <a:lstStyle/>
                    <a:p>
                      <a:pPr algn="ctr"/>
                      <a:r>
                        <a:rPr lang="en-US" sz="1800" dirty="0">
                          <a:solidFill>
                            <a:schemeClr val="tx1"/>
                          </a:solidFill>
                        </a:rPr>
                        <a:t>log_energy_per_capita, log_gdp_per_capita, log_population</a:t>
                      </a:r>
                    </a:p>
                  </a:txBody>
                  <a:tcPr>
                    <a:solidFill>
                      <a:schemeClr val="bg1">
                        <a:lumMod val="75000"/>
                        <a:lumOff val="25000"/>
                        <a:alpha val="46000"/>
                      </a:schemeClr>
                    </a:solidFill>
                  </a:tcPr>
                </a:tc>
                <a:extLst>
                  <a:ext uri="{0D108BD9-81ED-4DB2-BD59-A6C34878D82A}">
                    <a16:rowId xmlns:a16="http://schemas.microsoft.com/office/drawing/2014/main" val="1789285068"/>
                  </a:ext>
                </a:extLst>
              </a:tr>
              <a:tr h="336613">
                <a:tc>
                  <a:txBody>
                    <a:bodyPr/>
                    <a:lstStyle/>
                    <a:p>
                      <a:pPr algn="ctr"/>
                      <a:r>
                        <a:rPr lang="en-US" sz="1800" dirty="0">
                          <a:solidFill>
                            <a:schemeClr val="tx1"/>
                          </a:solidFill>
                        </a:rPr>
                        <a:t>2</a:t>
                      </a:r>
                      <a:r>
                        <a:rPr lang="en-US" sz="1800" baseline="30000" dirty="0">
                          <a:solidFill>
                            <a:schemeClr val="tx1"/>
                          </a:solidFill>
                        </a:rPr>
                        <a:t>nd</a:t>
                      </a:r>
                      <a:r>
                        <a:rPr lang="en-US" sz="1800" dirty="0">
                          <a:solidFill>
                            <a:schemeClr val="tx1"/>
                          </a:solidFill>
                        </a:rPr>
                        <a:t> Strategy</a:t>
                      </a:r>
                    </a:p>
                  </a:txBody>
                  <a:tcPr>
                    <a:solidFill>
                      <a:schemeClr val="bg1">
                        <a:lumMod val="75000"/>
                        <a:lumOff val="25000"/>
                        <a:alpha val="46000"/>
                      </a:schemeClr>
                    </a:solidFill>
                  </a:tcPr>
                </a:tc>
                <a:tc>
                  <a:txBody>
                    <a:bodyPr/>
                    <a:lstStyle/>
                    <a:p>
                      <a:pPr algn="ctr"/>
                      <a:r>
                        <a:rPr lang="en-US" sz="1800" dirty="0">
                          <a:solidFill>
                            <a:schemeClr val="tx1"/>
                          </a:solidFill>
                        </a:rPr>
                        <a:t>log_co2_per_capita</a:t>
                      </a:r>
                    </a:p>
                  </a:txBody>
                  <a:tcPr>
                    <a:solidFill>
                      <a:schemeClr val="bg1">
                        <a:lumMod val="75000"/>
                        <a:lumOff val="25000"/>
                        <a:alpha val="46000"/>
                      </a:schemeClr>
                    </a:solidFill>
                  </a:tcPr>
                </a:tc>
                <a:tc>
                  <a:txBody>
                    <a:bodyPr/>
                    <a:lstStyle/>
                    <a:p>
                      <a:pPr algn="ctr"/>
                      <a:r>
                        <a:rPr lang="en-US" sz="1800" dirty="0">
                          <a:solidFill>
                            <a:schemeClr val="tx1"/>
                          </a:solidFill>
                        </a:rPr>
                        <a:t>log_energy_per_capita, log_gdp_per_capita</a:t>
                      </a:r>
                    </a:p>
                  </a:txBody>
                  <a:tcPr>
                    <a:solidFill>
                      <a:schemeClr val="bg1">
                        <a:lumMod val="75000"/>
                        <a:lumOff val="25000"/>
                        <a:alpha val="46000"/>
                      </a:schemeClr>
                    </a:solidFill>
                  </a:tcPr>
                </a:tc>
                <a:extLst>
                  <a:ext uri="{0D108BD9-81ED-4DB2-BD59-A6C34878D82A}">
                    <a16:rowId xmlns:a16="http://schemas.microsoft.com/office/drawing/2014/main" val="378571169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9141771-2661-54DA-4427-73C585FF7C78}"/>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Model Performance Summary &amp; Selection</a:t>
            </a:r>
          </a:p>
        </p:txBody>
      </p:sp>
      <p:pic>
        <p:nvPicPr>
          <p:cNvPr id="12" name="Picture 11">
            <a:extLst>
              <a:ext uri="{FF2B5EF4-FFF2-40B4-BE49-F238E27FC236}">
                <a16:creationId xmlns:a16="http://schemas.microsoft.com/office/drawing/2014/main" id="{81E6302E-84FB-10DC-841A-4D272AE3DF46}"/>
              </a:ext>
            </a:extLst>
          </p:cNvPr>
          <p:cNvPicPr>
            <a:picLocks noChangeAspect="1"/>
          </p:cNvPicPr>
          <p:nvPr/>
        </p:nvPicPr>
        <p:blipFill>
          <a:blip r:embed="rId4"/>
          <a:stretch>
            <a:fillRect/>
          </a:stretch>
        </p:blipFill>
        <p:spPr>
          <a:xfrm>
            <a:off x="195262" y="1225717"/>
            <a:ext cx="8753475" cy="34861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A66149-E133-6B08-39B6-37E4EAFFBD76}"/>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Feature Importance</a:t>
            </a:r>
          </a:p>
        </p:txBody>
      </p:sp>
      <p:pic>
        <p:nvPicPr>
          <p:cNvPr id="4" name="Picture 3">
            <a:extLst>
              <a:ext uri="{FF2B5EF4-FFF2-40B4-BE49-F238E27FC236}">
                <a16:creationId xmlns:a16="http://schemas.microsoft.com/office/drawing/2014/main" id="{39CF3FE1-CD34-44C9-9B97-E6A75BAC8A6F}"/>
              </a:ext>
            </a:extLst>
          </p:cNvPr>
          <p:cNvPicPr>
            <a:picLocks noChangeAspect="1"/>
          </p:cNvPicPr>
          <p:nvPr/>
        </p:nvPicPr>
        <p:blipFill>
          <a:blip r:embed="rId4"/>
          <a:stretch>
            <a:fillRect/>
          </a:stretch>
        </p:blipFill>
        <p:spPr>
          <a:xfrm>
            <a:off x="4696805" y="1407706"/>
            <a:ext cx="3279405" cy="3705727"/>
          </a:xfrm>
          <a:prstGeom prst="rect">
            <a:avLst/>
          </a:prstGeom>
        </p:spPr>
      </p:pic>
      <p:pic>
        <p:nvPicPr>
          <p:cNvPr id="6" name="Picture 5">
            <a:extLst>
              <a:ext uri="{FF2B5EF4-FFF2-40B4-BE49-F238E27FC236}">
                <a16:creationId xmlns:a16="http://schemas.microsoft.com/office/drawing/2014/main" id="{DD7861F6-9FCF-9C2F-1601-B325097BC5B1}"/>
              </a:ext>
            </a:extLst>
          </p:cNvPr>
          <p:cNvPicPr>
            <a:picLocks noChangeAspect="1"/>
          </p:cNvPicPr>
          <p:nvPr/>
        </p:nvPicPr>
        <p:blipFill>
          <a:blip r:embed="rId5"/>
          <a:stretch>
            <a:fillRect/>
          </a:stretch>
        </p:blipFill>
        <p:spPr>
          <a:xfrm>
            <a:off x="1063786" y="1407706"/>
            <a:ext cx="3508214" cy="3705727"/>
          </a:xfrm>
          <a:prstGeom prst="rect">
            <a:avLst/>
          </a:prstGeom>
        </p:spPr>
      </p:pic>
      <p:sp>
        <p:nvSpPr>
          <p:cNvPr id="7" name="TextBox 6">
            <a:extLst>
              <a:ext uri="{FF2B5EF4-FFF2-40B4-BE49-F238E27FC236}">
                <a16:creationId xmlns:a16="http://schemas.microsoft.com/office/drawing/2014/main" id="{71742E71-3719-E516-9571-FAEB3C955F06}"/>
              </a:ext>
            </a:extLst>
          </p:cNvPr>
          <p:cNvSpPr txBox="1"/>
          <p:nvPr/>
        </p:nvSpPr>
        <p:spPr>
          <a:xfrm>
            <a:off x="1063786" y="1071321"/>
            <a:ext cx="3586303" cy="307777"/>
          </a:xfrm>
          <a:prstGeom prst="rect">
            <a:avLst/>
          </a:prstGeom>
          <a:noFill/>
        </p:spPr>
        <p:txBody>
          <a:bodyPr wrap="none" rtlCol="0">
            <a:spAutoFit/>
          </a:bodyPr>
          <a:lstStyle/>
          <a:p>
            <a:r>
              <a:rPr lang="en-US" sz="1400" b="1" dirty="0">
                <a:solidFill>
                  <a:schemeClr val="bg1">
                    <a:lumMod val="75000"/>
                    <a:lumOff val="25000"/>
                  </a:schemeClr>
                </a:solidFill>
                <a:latin typeface="+mj-lt"/>
              </a:rPr>
              <a:t>With Population Signal for Total CO2 Emissions</a:t>
            </a:r>
          </a:p>
        </p:txBody>
      </p:sp>
      <p:sp>
        <p:nvSpPr>
          <p:cNvPr id="8" name="TextBox 7">
            <a:extLst>
              <a:ext uri="{FF2B5EF4-FFF2-40B4-BE49-F238E27FC236}">
                <a16:creationId xmlns:a16="http://schemas.microsoft.com/office/drawing/2014/main" id="{B9B99428-96B2-23D0-2E73-EB44A56D4325}"/>
              </a:ext>
            </a:extLst>
          </p:cNvPr>
          <p:cNvSpPr txBox="1"/>
          <p:nvPr/>
        </p:nvSpPr>
        <p:spPr>
          <a:xfrm>
            <a:off x="4638057" y="1071321"/>
            <a:ext cx="3366627" cy="307777"/>
          </a:xfrm>
          <a:prstGeom prst="rect">
            <a:avLst/>
          </a:prstGeom>
          <a:noFill/>
        </p:spPr>
        <p:txBody>
          <a:bodyPr wrap="none" rtlCol="0">
            <a:spAutoFit/>
          </a:bodyPr>
          <a:lstStyle/>
          <a:p>
            <a:r>
              <a:rPr lang="en-US" sz="1400" b="1" dirty="0">
                <a:solidFill>
                  <a:schemeClr val="bg1">
                    <a:lumMod val="75000"/>
                    <a:lumOff val="25000"/>
                  </a:schemeClr>
                </a:solidFill>
                <a:latin typeface="+mj-lt"/>
              </a:rPr>
              <a:t>Without Population Signal for CO2 per Capita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CCDD8C-7D35-F08C-1E64-562FA1A08B8C}"/>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dirty="0">
                <a:solidFill>
                  <a:schemeClr val="bg1">
                    <a:lumMod val="75000"/>
                    <a:lumOff val="25000"/>
                  </a:schemeClr>
                </a:solidFill>
                <a:latin typeface="+mj-lt"/>
                <a:ea typeface="+mj-ea"/>
                <a:cs typeface="+mj-cs"/>
              </a:rPr>
              <a:t>Plastics Connection</a:t>
            </a:r>
            <a:endParaRPr lang="en-US" sz="3200" b="1" kern="1200" dirty="0">
              <a:solidFill>
                <a:schemeClr val="bg1">
                  <a:lumMod val="75000"/>
                  <a:lumOff val="25000"/>
                </a:schemeClr>
              </a:solidFill>
              <a:latin typeface="+mj-lt"/>
              <a:ea typeface="+mj-ea"/>
              <a:cs typeface="+mj-cs"/>
            </a:endParaRPr>
          </a:p>
        </p:txBody>
      </p:sp>
      <p:pic>
        <p:nvPicPr>
          <p:cNvPr id="4" name="Picture 3">
            <a:extLst>
              <a:ext uri="{FF2B5EF4-FFF2-40B4-BE49-F238E27FC236}">
                <a16:creationId xmlns:a16="http://schemas.microsoft.com/office/drawing/2014/main" id="{9A063978-CCE0-9204-7402-D02B26222CDC}"/>
              </a:ext>
            </a:extLst>
          </p:cNvPr>
          <p:cNvPicPr>
            <a:picLocks noChangeAspect="1"/>
          </p:cNvPicPr>
          <p:nvPr/>
        </p:nvPicPr>
        <p:blipFill>
          <a:blip r:embed="rId4"/>
          <a:stretch>
            <a:fillRect/>
          </a:stretch>
        </p:blipFill>
        <p:spPr>
          <a:xfrm>
            <a:off x="228605" y="1135667"/>
            <a:ext cx="4861373" cy="3593074"/>
          </a:xfrm>
          <a:prstGeom prst="rect">
            <a:avLst/>
          </a:prstGeom>
        </p:spPr>
      </p:pic>
      <p:pic>
        <p:nvPicPr>
          <p:cNvPr id="6" name="Picture 5">
            <a:extLst>
              <a:ext uri="{FF2B5EF4-FFF2-40B4-BE49-F238E27FC236}">
                <a16:creationId xmlns:a16="http://schemas.microsoft.com/office/drawing/2014/main" id="{615DA778-3229-9A4A-AE90-90A6F43CF48E}"/>
              </a:ext>
            </a:extLst>
          </p:cNvPr>
          <p:cNvPicPr>
            <a:picLocks noChangeAspect="1"/>
          </p:cNvPicPr>
          <p:nvPr/>
        </p:nvPicPr>
        <p:blipFill>
          <a:blip r:embed="rId5"/>
          <a:stretch>
            <a:fillRect/>
          </a:stretch>
        </p:blipFill>
        <p:spPr>
          <a:xfrm>
            <a:off x="5089978" y="1135668"/>
            <a:ext cx="3817215" cy="35930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884D9D-3811-70AB-5932-7BFC7A9CAE75}"/>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Key Findings</a:t>
            </a:r>
          </a:p>
        </p:txBody>
      </p:sp>
      <p:sp>
        <p:nvSpPr>
          <p:cNvPr id="3" name="TextBox 2">
            <a:extLst>
              <a:ext uri="{FF2B5EF4-FFF2-40B4-BE49-F238E27FC236}">
                <a16:creationId xmlns:a16="http://schemas.microsoft.com/office/drawing/2014/main" id="{2F54510A-3438-2042-9423-FE8829B45D01}"/>
              </a:ext>
            </a:extLst>
          </p:cNvPr>
          <p:cNvSpPr txBox="1"/>
          <p:nvPr/>
        </p:nvSpPr>
        <p:spPr>
          <a:xfrm>
            <a:off x="991100" y="1299407"/>
            <a:ext cx="7886700" cy="2062103"/>
          </a:xfrm>
          <a:prstGeom prst="rect">
            <a:avLst/>
          </a:prstGeom>
          <a:noFill/>
        </p:spPr>
        <p:txBody>
          <a:bodyPr wrap="square" rtlCol="0">
            <a:spAutoFit/>
          </a:bodyPr>
          <a:lstStyle/>
          <a:p>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dirty="0">
                <a:solidFill>
                  <a:schemeClr val="bg1">
                    <a:lumMod val="75000"/>
                    <a:lumOff val="25000"/>
                  </a:schemeClr>
                </a:solidFill>
              </a:rPr>
              <a:t>Population Size drives Total CO2 Emissions</a:t>
            </a:r>
          </a:p>
          <a:p>
            <a:pPr marL="342900" indent="-342900">
              <a:buFont typeface="Arial" panose="020B0604020202020204" pitchFamily="34" charset="0"/>
              <a:buChar char="•"/>
            </a:pPr>
            <a:r>
              <a:rPr lang="en-US" dirty="0">
                <a:solidFill>
                  <a:schemeClr val="bg1">
                    <a:lumMod val="75000"/>
                    <a:lumOff val="25000"/>
                  </a:schemeClr>
                </a:solidFill>
              </a:rPr>
              <a:t>Energy Demand drives CO2 Emissions Intensity</a:t>
            </a:r>
          </a:p>
          <a:p>
            <a:pPr marL="342900" indent="-342900">
              <a:buFont typeface="Arial" panose="020B0604020202020204" pitchFamily="34" charset="0"/>
              <a:buChar char="•"/>
            </a:pPr>
            <a:r>
              <a:rPr lang="en-US" dirty="0">
                <a:solidFill>
                  <a:schemeClr val="bg1">
                    <a:lumMod val="75000"/>
                    <a:lumOff val="25000"/>
                  </a:schemeClr>
                </a:solidFill>
              </a:rPr>
              <a:t>GDP drives CO2 Emissions indirectly via Energy Demand</a:t>
            </a:r>
          </a:p>
          <a:p>
            <a:pPr marL="342900" indent="-342900">
              <a:buFont typeface="Arial" panose="020B0604020202020204" pitchFamily="34" charset="0"/>
              <a:buChar char="•"/>
            </a:pPr>
            <a:r>
              <a:rPr lang="en-US" dirty="0">
                <a:solidFill>
                  <a:schemeClr val="bg1">
                    <a:lumMod val="75000"/>
                    <a:lumOff val="25000"/>
                  </a:schemeClr>
                </a:solidFill>
              </a:rPr>
              <a:t>Decoupling of Emissions with Economic Growth exists but not always</a:t>
            </a:r>
          </a:p>
          <a:p>
            <a:pPr marL="342900" indent="-342900">
              <a:buFont typeface="Arial" panose="020B0604020202020204" pitchFamily="34" charset="0"/>
              <a:buChar char="•"/>
            </a:pPr>
            <a:r>
              <a:rPr lang="en-US" dirty="0">
                <a:solidFill>
                  <a:schemeClr val="bg1">
                    <a:lumMod val="75000"/>
                    <a:lumOff val="25000"/>
                  </a:schemeClr>
                </a:solidFill>
              </a:rPr>
              <a:t>Plastic Intensive Supply Chains increase environmental pressure</a:t>
            </a:r>
          </a:p>
          <a:p>
            <a:r>
              <a:rPr lang="en-US" dirty="0">
                <a:solidFill>
                  <a:schemeClr val="bg1">
                    <a:lumMod val="75000"/>
                    <a:lumOff val="25000"/>
                  </a:schemeClr>
                </a:solid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FB8459-82A0-75F5-FF7A-279D1463CC1A}"/>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dirty="0">
                <a:solidFill>
                  <a:schemeClr val="bg1">
                    <a:lumMod val="75000"/>
                    <a:lumOff val="25000"/>
                  </a:schemeClr>
                </a:solidFill>
                <a:latin typeface="+mj-lt"/>
                <a:ea typeface="+mj-ea"/>
                <a:cs typeface="+mj-cs"/>
              </a:rPr>
              <a:t>Actionable Recommendations</a:t>
            </a:r>
            <a:endParaRPr lang="en-US" sz="3200" b="1" kern="1200" dirty="0">
              <a:solidFill>
                <a:schemeClr val="bg1">
                  <a:lumMod val="75000"/>
                  <a:lumOff val="25000"/>
                </a:schemeClr>
              </a:solidFill>
              <a:latin typeface="+mj-lt"/>
              <a:ea typeface="+mj-ea"/>
              <a:cs typeface="+mj-cs"/>
            </a:endParaRPr>
          </a:p>
        </p:txBody>
      </p:sp>
      <p:sp>
        <p:nvSpPr>
          <p:cNvPr id="3" name="TextBox 2">
            <a:extLst>
              <a:ext uri="{FF2B5EF4-FFF2-40B4-BE49-F238E27FC236}">
                <a16:creationId xmlns:a16="http://schemas.microsoft.com/office/drawing/2014/main" id="{A8D8562F-7D55-7DD0-5231-DE538F37E1E1}"/>
              </a:ext>
            </a:extLst>
          </p:cNvPr>
          <p:cNvSpPr txBox="1"/>
          <p:nvPr/>
        </p:nvSpPr>
        <p:spPr>
          <a:xfrm>
            <a:off x="991100" y="1299407"/>
            <a:ext cx="7886700" cy="2308324"/>
          </a:xfrm>
          <a:prstGeom prst="rect">
            <a:avLst/>
          </a:prstGeom>
          <a:noFill/>
        </p:spPr>
        <p:txBody>
          <a:bodyPr wrap="square" rtlCol="0">
            <a:spAutoFit/>
          </a:bodyPr>
          <a:lstStyle/>
          <a:p>
            <a:endParaRPr lang="en-US" dirty="0">
              <a:solidFill>
                <a:schemeClr val="bg1">
                  <a:lumMod val="75000"/>
                  <a:lumOff val="25000"/>
                </a:schemeClr>
              </a:solidFill>
            </a:endParaRPr>
          </a:p>
          <a:p>
            <a:pPr marL="342900" indent="-342900">
              <a:buFont typeface="Arial" panose="020B0604020202020204" pitchFamily="34" charset="0"/>
              <a:buChar char="•"/>
            </a:pPr>
            <a:r>
              <a:rPr lang="en-US" dirty="0">
                <a:solidFill>
                  <a:schemeClr val="bg1">
                    <a:lumMod val="75000"/>
                    <a:lumOff val="25000"/>
                  </a:schemeClr>
                </a:solidFill>
              </a:rPr>
              <a:t>Track both CO2 per capita and CO2 Emissions for all major energy intensive industries &amp; processes within a country</a:t>
            </a:r>
          </a:p>
          <a:p>
            <a:pPr marL="342900" indent="-342900">
              <a:buFont typeface="Arial" panose="020B0604020202020204" pitchFamily="34" charset="0"/>
              <a:buChar char="•"/>
            </a:pPr>
            <a:r>
              <a:rPr lang="en-US" dirty="0">
                <a:solidFill>
                  <a:schemeClr val="bg1">
                    <a:lumMod val="75000"/>
                    <a:lumOff val="25000"/>
                  </a:schemeClr>
                </a:solidFill>
              </a:rPr>
              <a:t>Invest in energy efficient technologies</a:t>
            </a:r>
          </a:p>
          <a:p>
            <a:pPr marL="342900" indent="-342900">
              <a:buFont typeface="Arial" panose="020B0604020202020204" pitchFamily="34" charset="0"/>
              <a:buChar char="•"/>
            </a:pPr>
            <a:r>
              <a:rPr lang="en-US" dirty="0">
                <a:solidFill>
                  <a:schemeClr val="bg1">
                    <a:lumMod val="75000"/>
                    <a:lumOff val="25000"/>
                  </a:schemeClr>
                </a:solidFill>
              </a:rPr>
              <a:t>Incentivize green/renewable energy sources</a:t>
            </a:r>
          </a:p>
          <a:p>
            <a:pPr marL="342900" indent="-342900">
              <a:buFont typeface="Arial" panose="020B0604020202020204" pitchFamily="34" charset="0"/>
              <a:buChar char="•"/>
            </a:pPr>
            <a:r>
              <a:rPr lang="en-US" dirty="0">
                <a:solidFill>
                  <a:schemeClr val="bg1">
                    <a:lumMod val="75000"/>
                    <a:lumOff val="25000"/>
                  </a:schemeClr>
                </a:solidFill>
              </a:rPr>
              <a:t>Invest in recycling and improving Supply Chain sustainability</a:t>
            </a:r>
          </a:p>
          <a:p>
            <a:pPr marL="342900" indent="-342900">
              <a:buFont typeface="Arial" panose="020B0604020202020204" pitchFamily="34" charset="0"/>
              <a:buChar char="•"/>
            </a:pPr>
            <a:r>
              <a:rPr lang="en-US" dirty="0">
                <a:solidFill>
                  <a:schemeClr val="bg1">
                    <a:lumMod val="75000"/>
                    <a:lumOff val="25000"/>
                  </a:schemeClr>
                </a:solidFill>
              </a:rPr>
              <a:t>Reduce dependence on plastics by investing in greener alternatives</a:t>
            </a:r>
          </a:p>
          <a:p>
            <a:pPr marL="342900" indent="-342900">
              <a:buFont typeface="Arial" panose="020B0604020202020204" pitchFamily="34" charset="0"/>
              <a:buChar char="•"/>
            </a:pPr>
            <a:endParaRPr lang="en-US" dirty="0">
              <a:solidFill>
                <a:schemeClr val="bg1">
                  <a:lumMod val="75000"/>
                  <a:lumOff val="25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BA1D-590A-BE12-5F46-240429BD54B6}"/>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Future Work</a:t>
            </a:r>
          </a:p>
        </p:txBody>
      </p:sp>
      <p:sp>
        <p:nvSpPr>
          <p:cNvPr id="3" name="TextBox 2">
            <a:extLst>
              <a:ext uri="{FF2B5EF4-FFF2-40B4-BE49-F238E27FC236}">
                <a16:creationId xmlns:a16="http://schemas.microsoft.com/office/drawing/2014/main" id="{D9CCD3DF-1D18-B67B-60AB-A7E0A57C00B8}"/>
              </a:ext>
            </a:extLst>
          </p:cNvPr>
          <p:cNvSpPr txBox="1"/>
          <p:nvPr/>
        </p:nvSpPr>
        <p:spPr>
          <a:xfrm>
            <a:off x="991100" y="1299407"/>
            <a:ext cx="7886700" cy="1477328"/>
          </a:xfrm>
          <a:prstGeom prst="rect">
            <a:avLst/>
          </a:prstGeom>
          <a:noFill/>
        </p:spPr>
        <p:txBody>
          <a:bodyPr wrap="square" rtlCol="0">
            <a:spAutoFit/>
          </a:bodyPr>
          <a:lstStyle/>
          <a:p>
            <a:endParaRPr lang="en-US" dirty="0">
              <a:solidFill>
                <a:schemeClr val="bg1">
                  <a:lumMod val="75000"/>
                  <a:lumOff val="25000"/>
                </a:schemeClr>
              </a:solidFill>
            </a:endParaRPr>
          </a:p>
          <a:p>
            <a:pPr marL="342900" indent="-342900">
              <a:buFont typeface="Arial" panose="020B0604020202020204" pitchFamily="34" charset="0"/>
              <a:buChar char="•"/>
            </a:pPr>
            <a:r>
              <a:rPr lang="en-US" dirty="0">
                <a:solidFill>
                  <a:schemeClr val="bg1">
                    <a:lumMod val="75000"/>
                    <a:lumOff val="25000"/>
                  </a:schemeClr>
                </a:solidFill>
              </a:rPr>
              <a:t>Add country/year level plastics data</a:t>
            </a:r>
          </a:p>
          <a:p>
            <a:pPr marL="342900" indent="-342900">
              <a:buFont typeface="Arial" panose="020B0604020202020204" pitchFamily="34" charset="0"/>
              <a:buChar char="•"/>
            </a:pPr>
            <a:r>
              <a:rPr lang="en-US" dirty="0">
                <a:solidFill>
                  <a:schemeClr val="bg1">
                    <a:lumMod val="75000"/>
                    <a:lumOff val="25000"/>
                  </a:schemeClr>
                </a:solidFill>
              </a:rPr>
              <a:t>Add renewable energy indicators</a:t>
            </a:r>
          </a:p>
          <a:p>
            <a:pPr marL="342900" indent="-342900">
              <a:buFont typeface="Arial" panose="020B0604020202020204" pitchFamily="34" charset="0"/>
              <a:buChar char="•"/>
            </a:pPr>
            <a:r>
              <a:rPr lang="en-US" dirty="0">
                <a:solidFill>
                  <a:schemeClr val="bg1">
                    <a:lumMod val="75000"/>
                    <a:lumOff val="25000"/>
                  </a:schemeClr>
                </a:solidFill>
              </a:rPr>
              <a:t>Explore panel regression models</a:t>
            </a:r>
          </a:p>
          <a:p>
            <a:pPr marL="342900" indent="-342900">
              <a:buFont typeface="Arial" panose="020B0604020202020204" pitchFamily="34" charset="0"/>
              <a:buChar char="•"/>
            </a:pPr>
            <a:r>
              <a:rPr lang="en-US" dirty="0">
                <a:solidFill>
                  <a:schemeClr val="bg1">
                    <a:lumMod val="75000"/>
                    <a:lumOff val="25000"/>
                  </a:schemeClr>
                </a:solidFill>
              </a:rPr>
              <a:t>Build forecasting dashboard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FABF0-3A40-2622-3969-CD090982431C}"/>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Conclusion</a:t>
            </a:r>
          </a:p>
        </p:txBody>
      </p:sp>
      <p:sp>
        <p:nvSpPr>
          <p:cNvPr id="3" name="TextBox 2">
            <a:extLst>
              <a:ext uri="{FF2B5EF4-FFF2-40B4-BE49-F238E27FC236}">
                <a16:creationId xmlns:a16="http://schemas.microsoft.com/office/drawing/2014/main" id="{2D66F26F-1047-1AA2-1FB4-42DA32DBB7D7}"/>
              </a:ext>
            </a:extLst>
          </p:cNvPr>
          <p:cNvSpPr txBox="1"/>
          <p:nvPr/>
        </p:nvSpPr>
        <p:spPr>
          <a:xfrm>
            <a:off x="991100" y="1299407"/>
            <a:ext cx="7886700" cy="270843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lumMod val="75000"/>
                    <a:lumOff val="25000"/>
                  </a:schemeClr>
                </a:solidFill>
              </a:rPr>
              <a:t>Energy consumption behavior has the highest environmental impact</a:t>
            </a:r>
          </a:p>
          <a:p>
            <a:pPr marL="285750" indent="-285750">
              <a:buFont typeface="Arial" panose="020B0604020202020204" pitchFamily="34" charset="0"/>
              <a:buChar char="•"/>
            </a:pPr>
            <a:r>
              <a:rPr lang="en-US" dirty="0">
                <a:solidFill>
                  <a:schemeClr val="bg1">
                    <a:lumMod val="75000"/>
                    <a:lumOff val="25000"/>
                  </a:schemeClr>
                </a:solidFill>
              </a:rPr>
              <a:t>Energy Efficiency gains offset by scale of growth, energy demand, population and rapidly increasing plastic supply chains</a:t>
            </a:r>
          </a:p>
          <a:p>
            <a:pPr marL="285750" indent="-285750">
              <a:buFont typeface="Arial" panose="020B0604020202020204" pitchFamily="34" charset="0"/>
              <a:buChar char="•"/>
            </a:pPr>
            <a:endParaRPr lang="en-US" dirty="0">
              <a:solidFill>
                <a:schemeClr val="bg1">
                  <a:lumMod val="75000"/>
                  <a:lumOff val="25000"/>
                </a:schemeClr>
              </a:solidFill>
            </a:endParaRPr>
          </a:p>
          <a:p>
            <a:r>
              <a:rPr lang="en-US" sz="2000" b="1" dirty="0">
                <a:solidFill>
                  <a:schemeClr val="bg1">
                    <a:lumMod val="75000"/>
                    <a:lumOff val="25000"/>
                  </a:schemeClr>
                </a:solidFill>
                <a:latin typeface="+mj-lt"/>
              </a:rPr>
              <a:t>Final Insight</a:t>
            </a:r>
          </a:p>
          <a:p>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dirty="0">
                <a:solidFill>
                  <a:schemeClr val="bg1">
                    <a:lumMod val="75000"/>
                    <a:lumOff val="25000"/>
                  </a:schemeClr>
                </a:solidFill>
              </a:rPr>
              <a:t>Global Warming mitigation will not just require cleaner energy systems but also reducing material intensity for global supply chains</a:t>
            </a:r>
          </a:p>
          <a:p>
            <a:pPr marL="285750" indent="-285750">
              <a:buFont typeface="Arial" panose="020B0604020202020204" pitchFamily="34" charset="0"/>
              <a:buChar char="•"/>
            </a:pPr>
            <a:endParaRPr lang="en-US" dirty="0">
              <a:solidFill>
                <a:schemeClr val="bg1">
                  <a:lumMod val="75000"/>
                  <a:lumOff val="2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alphaModFix amt="31000"/>
            <a:lum/>
          </a:blip>
          <a:srcRect/>
          <a:stretch>
            <a:fillRect t="-8000" b="-8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CE21B7-D792-39FD-D42C-2ACBB3F54A08}"/>
              </a:ext>
            </a:extLst>
          </p:cNvPr>
          <p:cNvSpPr txBox="1"/>
          <p:nvPr/>
        </p:nvSpPr>
        <p:spPr>
          <a:xfrm>
            <a:off x="628650" y="285543"/>
            <a:ext cx="7886700" cy="85012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200" b="1" kern="1200" dirty="0">
                <a:solidFill>
                  <a:schemeClr val="bg1">
                    <a:lumMod val="75000"/>
                    <a:lumOff val="25000"/>
                  </a:schemeClr>
                </a:solidFill>
                <a:latin typeface="+mj-lt"/>
                <a:ea typeface="+mj-ea"/>
                <a:cs typeface="+mj-cs"/>
              </a:rPr>
              <a:t>Thank You!</a:t>
            </a:r>
          </a:p>
        </p:txBody>
      </p:sp>
      <p:sp>
        <p:nvSpPr>
          <p:cNvPr id="3" name="TextBox 2">
            <a:extLst>
              <a:ext uri="{FF2B5EF4-FFF2-40B4-BE49-F238E27FC236}">
                <a16:creationId xmlns:a16="http://schemas.microsoft.com/office/drawing/2014/main" id="{CBC7F58D-7FDD-8450-B274-F500B0C7567E}"/>
              </a:ext>
            </a:extLst>
          </p:cNvPr>
          <p:cNvSpPr txBox="1"/>
          <p:nvPr/>
        </p:nvSpPr>
        <p:spPr>
          <a:xfrm>
            <a:off x="991100" y="1299407"/>
            <a:ext cx="7886700" cy="3139321"/>
          </a:xfrm>
          <a:prstGeom prst="rect">
            <a:avLst/>
          </a:prstGeom>
          <a:noFill/>
        </p:spPr>
        <p:txBody>
          <a:bodyPr wrap="square" rtlCol="0">
            <a:spAutoFit/>
          </a:bodyPr>
          <a:lstStyle/>
          <a:p>
            <a:r>
              <a:rPr lang="en-US" sz="2000" b="1" dirty="0">
                <a:solidFill>
                  <a:schemeClr val="bg1">
                    <a:lumMod val="75000"/>
                    <a:lumOff val="25000"/>
                  </a:schemeClr>
                </a:solidFill>
                <a:latin typeface="+mj-lt"/>
              </a:rPr>
              <a:t>Questions?</a:t>
            </a:r>
          </a:p>
          <a:p>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sz="2000" b="1" dirty="0">
                <a:solidFill>
                  <a:schemeClr val="bg1">
                    <a:lumMod val="75000"/>
                    <a:lumOff val="25000"/>
                  </a:schemeClr>
                </a:solidFill>
                <a:latin typeface="+mj-lt"/>
              </a:rPr>
              <a:t>Contact Information : </a:t>
            </a:r>
            <a:r>
              <a:rPr lang="en-US" sz="2000" b="1" dirty="0">
                <a:solidFill>
                  <a:schemeClr val="bg1">
                    <a:lumMod val="75000"/>
                    <a:lumOff val="25000"/>
                  </a:schemeClr>
                </a:solidFill>
                <a:latin typeface="+mj-lt"/>
                <a:hlinkClick r:id="rId4"/>
              </a:rPr>
              <a:t>gawandesailee@gmail.com</a:t>
            </a:r>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sz="2000" b="1" dirty="0">
                <a:solidFill>
                  <a:schemeClr val="bg1">
                    <a:lumMod val="75000"/>
                    <a:lumOff val="25000"/>
                  </a:schemeClr>
                </a:solidFill>
                <a:latin typeface="+mj-lt"/>
              </a:rPr>
              <a:t>LinkedIn : </a:t>
            </a:r>
            <a:r>
              <a:rPr lang="en-US" sz="2000" b="1" dirty="0">
                <a:solidFill>
                  <a:schemeClr val="bg1">
                    <a:lumMod val="75000"/>
                    <a:lumOff val="25000"/>
                  </a:schemeClr>
                </a:solidFill>
                <a:latin typeface="+mj-lt"/>
                <a:hlinkClick r:id="rId5"/>
              </a:rPr>
              <a:t>www.linkedin.com/in/saileegawande</a:t>
            </a:r>
            <a:endParaRPr lang="en-US" sz="2000" b="1" dirty="0">
              <a:solidFill>
                <a:schemeClr val="bg1">
                  <a:lumMod val="75000"/>
                  <a:lumOff val="25000"/>
                </a:schemeClr>
              </a:solidFill>
              <a:latin typeface="+mj-lt"/>
            </a:endParaRPr>
          </a:p>
          <a:p>
            <a:endParaRPr lang="en-US" sz="2000" b="1" dirty="0">
              <a:solidFill>
                <a:schemeClr val="bg1">
                  <a:lumMod val="75000"/>
                  <a:lumOff val="25000"/>
                </a:schemeClr>
              </a:solidFill>
              <a:latin typeface="+mj-lt"/>
            </a:endParaRPr>
          </a:p>
          <a:p>
            <a:pPr marL="342900" indent="-342900">
              <a:buFont typeface="Arial" panose="020B0604020202020204" pitchFamily="34" charset="0"/>
              <a:buChar char="•"/>
            </a:pPr>
            <a:r>
              <a:rPr lang="en-US" sz="2000" b="1" dirty="0">
                <a:solidFill>
                  <a:schemeClr val="bg1">
                    <a:lumMod val="75000"/>
                    <a:lumOff val="25000"/>
                  </a:schemeClr>
                </a:solidFill>
                <a:latin typeface="+mj-lt"/>
              </a:rPr>
              <a:t>GitHub Repository : </a:t>
            </a:r>
            <a:r>
              <a:rPr lang="en-US" sz="2000" b="1" dirty="0">
                <a:solidFill>
                  <a:schemeClr val="bg1">
                    <a:lumMod val="75000"/>
                    <a:lumOff val="25000"/>
                  </a:schemeClr>
                </a:solidFill>
                <a:latin typeface="+mj-lt"/>
                <a:hlinkClick r:id="rId6"/>
              </a:rPr>
              <a:t>https://github.com/gawandesailee-lab/learndsp/blob/main/Data%20Science%20Capstone%202%20Project/reports/Data%20Science%20Capstone%202%20Project%20Report.pdf</a:t>
            </a:r>
            <a:endParaRPr lang="en-US" dirty="0">
              <a:solidFill>
                <a:schemeClr val="bg1">
                  <a:lumMod val="75000"/>
                  <a:lumOff val="25000"/>
                </a:schemeClr>
              </a:solidFill>
            </a:endParaRPr>
          </a:p>
          <a:p>
            <a:endParaRPr lang="en-US" dirty="0">
              <a:solidFill>
                <a:schemeClr val="bg1">
                  <a:lumMod val="75000"/>
                  <a:lumOff val="25000"/>
                </a:schemeClr>
              </a:solidFill>
            </a:endParaRP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8662</TotalTime>
  <Words>1603</Words>
  <Application>Microsoft Office PowerPoint</Application>
  <PresentationFormat>On-screen Show (16:9)</PresentationFormat>
  <Paragraphs>289</Paragraphs>
  <Slides>19</Slides>
  <Notes>19</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Sailee Gawande</dc:creator>
  <cp:lastModifiedBy>Sailee Gawande</cp:lastModifiedBy>
  <cp:revision>11</cp:revision>
  <dcterms:created xsi:type="dcterms:W3CDTF">2026-05-07T01:28:22Z</dcterms:created>
  <dcterms:modified xsi:type="dcterms:W3CDTF">2026-05-13T18:00:48Z</dcterms:modified>
</cp:coreProperties>
</file>